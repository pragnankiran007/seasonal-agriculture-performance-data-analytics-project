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0" r:id="rId11"/>
    <p:sldId id="344" r:id="rId12"/>
    <p:sldId id="345" r:id="rId13"/>
    <p:sldId id="346" r:id="rId14"/>
    <p:sldId id="347" r:id="rId15"/>
    <p:sldId id="349" r:id="rId16"/>
    <p:sldId id="350" r:id="rId17"/>
    <p:sldId id="351" r:id="rId18"/>
    <p:sldId id="341" r:id="rId19"/>
    <p:sldId id="348"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26" userDrawn="1">
          <p15:clr>
            <a:srgbClr val="A4A3A4"/>
          </p15:clr>
        </p15:guide>
        <p15:guide id="3" orient="horz" pos="3912" userDrawn="1">
          <p15:clr>
            <a:srgbClr val="A4A3A4"/>
          </p15:clr>
        </p15:guide>
        <p15:guide id="4" pos="7272" userDrawn="1">
          <p15:clr>
            <a:srgbClr val="A4A3A4"/>
          </p15:clr>
        </p15:guide>
        <p15:guide id="5" orient="horz" pos="167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120" d="100"/>
          <a:sy n="120" d="100"/>
        </p:scale>
        <p:origin x="114" y="234"/>
      </p:cViewPr>
      <p:guideLst>
        <p:guide orient="horz" pos="1968"/>
        <p:guide pos="426"/>
        <p:guide orient="horz" pos="3912"/>
        <p:guide pos="7272"/>
        <p:guide orient="horz" pos="1679"/>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t>9/10/2026</a:t>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t>‹#›</a:t>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t>9/10/2026</a:t>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t>‹#›</a:t>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9.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jpg"/><Relationship Id="rId7" Type="http://schemas.openxmlformats.org/officeDocument/2006/relationships/image" Target="../media/image7.svg"/><Relationship Id="rId2" Type="http://schemas.openxmlformats.org/officeDocument/2006/relationships/image" Target="../media/image1.jpeg"/><Relationship Id="rId1" Type="http://schemas.openxmlformats.org/officeDocument/2006/relationships/slideLayout" Target="../slideLayouts/slideLayout20.xml"/><Relationship Id="rId6" Type="http://schemas.openxmlformats.org/officeDocument/2006/relationships/image" Target="../media/image6.png"/><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675957" y="3605277"/>
            <a:ext cx="8161020" cy="861695"/>
          </a:xfrm>
        </p:spPr>
        <p:txBody>
          <a:bodyPr vert="horz" lIns="91440" tIns="45720" rIns="91440" bIns="45720" rtlCol="0" anchor="t">
            <a:normAutofit/>
          </a:bodyPr>
          <a:lstStyle/>
          <a:p>
            <a:pPr algn="ctr"/>
            <a:r>
              <a:rPr lang="en-US" dirty="0">
                <a:solidFill>
                  <a:schemeClr val="tx1"/>
                </a:solidFill>
                <a:latin typeface="Times New Roman" panose="02020603050405020304" pitchFamily="18" charset="0"/>
                <a:cs typeface="Times New Roman" panose="02020603050405020304" pitchFamily="18" charset="0"/>
                <a:sym typeface="+mn-ea"/>
              </a:rPr>
              <a:t>Student Name </a:t>
            </a:r>
            <a:r>
              <a:rPr lang="en-US" b="0" dirty="0">
                <a:solidFill>
                  <a:schemeClr val="tx1"/>
                </a:solidFill>
                <a:latin typeface="Times New Roman" panose="02020603050405020304" pitchFamily="18" charset="0"/>
                <a:cs typeface="Times New Roman" panose="02020603050405020304" pitchFamily="18" charset="0"/>
                <a:sym typeface="+mn-ea"/>
              </a:rPr>
              <a:t>– Pragnan Kiran Kadiyam</a:t>
            </a:r>
            <a:r>
              <a:rPr lang="en-US" altLang="en-US" b="0" dirty="0">
                <a:solidFill>
                  <a:schemeClr val="tx1"/>
                </a:solidFill>
                <a:latin typeface="Times New Roman" panose="02020603050405020304" pitchFamily="18" charset="0"/>
                <a:cs typeface="Times New Roman" panose="02020603050405020304" pitchFamily="18" charset="0"/>
                <a:sym typeface="+mn-ea"/>
              </a:rPr>
              <a:t>                </a:t>
            </a:r>
            <a:r>
              <a:rPr lang="en-US" b="0" dirty="0">
                <a:solidFill>
                  <a:schemeClr val="tx1"/>
                </a:solidFill>
                <a:latin typeface="Times New Roman" panose="02020603050405020304" pitchFamily="18" charset="0"/>
                <a:cs typeface="Times New Roman" panose="02020603050405020304" pitchFamily="18" charset="0"/>
              </a:rPr>
              <a:t> </a:t>
            </a:r>
            <a:endParaRPr lang="en-IN" b="0"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College Name </a:t>
            </a:r>
            <a:r>
              <a:rPr lang="en-US" b="0" dirty="0">
                <a:solidFill>
                  <a:schemeClr val="tx1"/>
                </a:solidFill>
                <a:latin typeface="Times New Roman" panose="02020603050405020304" pitchFamily="18" charset="0"/>
                <a:cs typeface="Times New Roman" panose="02020603050405020304" pitchFamily="18" charset="0"/>
              </a:rPr>
              <a:t>– </a:t>
            </a:r>
            <a:r>
              <a:rPr lang="en-US" altLang="en-US" b="0" dirty="0">
                <a:solidFill>
                  <a:schemeClr val="tx1"/>
                </a:solidFill>
                <a:latin typeface="Times New Roman" panose="02020603050405020304" pitchFamily="18" charset="0"/>
                <a:cs typeface="Times New Roman" panose="02020603050405020304" pitchFamily="18" charset="0"/>
              </a:rPr>
              <a:t>Saveetha Institute of Medical and Technical Science</a:t>
            </a:r>
          </a:p>
        </p:txBody>
      </p:sp>
      <p:sp>
        <p:nvSpPr>
          <p:cNvPr id="4" name="Title 3"/>
          <p:cNvSpPr>
            <a:spLocks noGrp="1"/>
          </p:cNvSpPr>
          <p:nvPr>
            <p:ph type="title"/>
          </p:nvPr>
        </p:nvSpPr>
        <p:spPr>
          <a:xfrm>
            <a:off x="678180" y="2844800"/>
            <a:ext cx="9683750" cy="743585"/>
          </a:xfrm>
        </p:spPr>
        <p:txBody>
          <a:bodyPr>
            <a:normAutofit fontScale="90000"/>
          </a:bodyPr>
          <a:lstStyle/>
          <a:p>
            <a:r>
              <a:rPr lang="en-GB" sz="3200" b="1" dirty="0">
                <a:latin typeface="Times New Roman" panose="02020603050405020304" pitchFamily="18" charset="0"/>
                <a:cs typeface="Times New Roman" panose="02020603050405020304" pitchFamily="18" charset="0"/>
              </a:rPr>
              <a:t>Project Title -</a:t>
            </a:r>
            <a:r>
              <a:rPr lang="en-US" altLang="en-US" sz="3200" b="1" dirty="0">
                <a:latin typeface="Times New Roman" panose="02020603050405020304" pitchFamily="18" charset="0"/>
                <a:cs typeface="Times New Roman" panose="02020603050405020304" pitchFamily="18" charset="0"/>
              </a:rPr>
              <a:t>Seasonal Agriculture Performance Analysis</a:t>
            </a:r>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3" name="TextBox 2"/>
          <p:cNvSpPr txBox="1"/>
          <p:nvPr/>
        </p:nvSpPr>
        <p:spPr>
          <a:xfrm>
            <a:off x="957580" y="4576445"/>
            <a:ext cx="7106285" cy="36830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AICTE STU ID : </a:t>
            </a:r>
            <a:r>
              <a:rPr lang="en-US" altLang="en-US" b="1" dirty="0">
                <a:latin typeface="Times New Roman" panose="02020603050405020304" pitchFamily="18" charset="0"/>
                <a:cs typeface="Times New Roman" panose="02020603050405020304" pitchFamily="18" charset="0"/>
                <a:sym typeface="+mn-ea"/>
              </a:rPr>
              <a:t>STU68459f96b68e41749393302</a:t>
            </a:r>
            <a:endParaRPr lang="en-US" b="1" dirty="0">
              <a:latin typeface="Times New Roman" panose="02020603050405020304" pitchFamily="18" charset="0"/>
              <a:cs typeface="Times New Roman" panose="02020603050405020304" pitchFamily="18" charset="0"/>
            </a:endParaRPr>
          </a:p>
        </p:txBody>
      </p:sp>
      <p:pic>
        <p:nvPicPr>
          <p:cNvPr id="5" name="Graphic 7" descr="Stack of books with pear">
            <a:extLst>
              <a:ext uri="{FF2B5EF4-FFF2-40B4-BE49-F238E27FC236}">
                <a16:creationId xmlns:a16="http://schemas.microsoft.com/office/drawing/2014/main" id="{7CC0A459-CF21-6D57-DB94-F7163D66C3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40783" y="1129085"/>
            <a:ext cx="1699613" cy="1606242"/>
          </a:xfrm>
          <a:prstGeom prst="rect">
            <a:avLst/>
          </a:prstGeom>
        </p:spPr>
      </p:pic>
      <p:pic>
        <p:nvPicPr>
          <p:cNvPr id="7" name="Graphic 4" descr="Graph and note paper pads with pencil">
            <a:extLst>
              <a:ext uri="{FF2B5EF4-FFF2-40B4-BE49-F238E27FC236}">
                <a16:creationId xmlns:a16="http://schemas.microsoft.com/office/drawing/2014/main" id="{274EC039-18E0-0CF2-984F-C2C4A62E4F9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55615" y="1223336"/>
            <a:ext cx="1417739" cy="1417739"/>
          </a:xfrm>
          <a:prstGeom prst="rect">
            <a:avLst/>
          </a:prstGeom>
        </p:spPr>
      </p:pic>
      <p:pic>
        <p:nvPicPr>
          <p:cNvPr id="8" name="Graphic 7" descr="An open book">
            <a:extLst>
              <a:ext uri="{FF2B5EF4-FFF2-40B4-BE49-F238E27FC236}">
                <a16:creationId xmlns:a16="http://schemas.microsoft.com/office/drawing/2014/main" id="{5E2BC0EC-8FF8-9D46-830E-29E338C0DB8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32529" y="5258146"/>
            <a:ext cx="641124" cy="6411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1875556"/>
            <a:ext cx="6703726" cy="4596364"/>
          </a:xfrm>
        </p:spPr>
        <p:txBody>
          <a:bodyPr vert="horz" lIns="91440" tIns="45720" rIns="91440" bIns="45720" rtlCol="0" anchor="t">
            <a:noAutofit/>
          </a:bodyPr>
          <a:lstStyle/>
          <a:p>
            <a:pPr algn="just">
              <a:lnSpc>
                <a:spcPct val="100000"/>
              </a:lnSpc>
            </a:pPr>
            <a:r>
              <a:rPr lang="en-IN"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p>
        </p:txBody>
      </p:sp>
      <p:sp>
        <p:nvSpPr>
          <p:cNvPr id="4" name="Title 3"/>
          <p:cNvSpPr>
            <a:spLocks noGrp="1"/>
          </p:cNvSpPr>
          <p:nvPr>
            <p:ph type="title"/>
          </p:nvPr>
        </p:nvSpPr>
        <p:spPr>
          <a:xfrm>
            <a:off x="754602" y="550417"/>
            <a:ext cx="6995604" cy="790111"/>
          </a:xfrm>
        </p:spPr>
        <p:txBody>
          <a:bodyPr>
            <a:normAutofit/>
          </a:bodyPr>
          <a:lstStyle/>
          <a:p>
            <a:r>
              <a:rPr lang="en-US" sz="4400" dirty="0">
                <a:latin typeface="Times New Roman" panose="02020603050405020304" pitchFamily="18" charset="0"/>
                <a:cs typeface="Times New Roman" panose="02020603050405020304" pitchFamily="18" charset="0"/>
              </a:rPr>
              <a:t>PROBLEM  STATEMENT</a:t>
            </a:r>
            <a:endParaRPr lang="en-IN" sz="4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3"/>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dirty="0">
                <a:latin typeface="Times New Roman" panose="02020603050405020304" pitchFamily="18" charset="0"/>
                <a:cs typeface="Times New Roman" panose="02020603050405020304" pitchFamily="18" charset="0"/>
              </a:rPr>
              <a:t>Project Description</a:t>
            </a:r>
            <a:br>
              <a:rPr lang="en-GB" dirty="0"/>
            </a:br>
            <a:br>
              <a:rPr lang="en-GB" dirty="0"/>
            </a:br>
            <a:r>
              <a:rPr lang="en-US" altLang="en-US" sz="2335" b="0" dirty="0">
                <a:latin typeface="Times New Roman" panose="02020603050405020304" pitchFamily="18" charset="0"/>
                <a:cs typeface="Times New Roman" panose="02020603050405020304" pitchFamily="18" charset="0"/>
              </a:rPr>
              <a:t>Seasonal Agriculture Performance Analysis is a data analytics project that analyzes agricultural data across Kharif, Rabi and Zaid seasons. The project examines agricultural yield, production, environmental conditions, farming inputs, water usage, irrigation methods and economic performance. Data cleaning, exploratory data analysis, statistical analysis and visualization techniques are used to identify meaningful seasonal, crop and regional patterns. The findings are used to provide data-driven recommendations for better agricultural planning and resource management</a:t>
            </a:r>
            <a:r>
              <a:rPr lang="en-US" altLang="en-US" sz="2335" b="0" dirty="0">
                <a:latin typeface="Bahnschrift" panose="020B0502040204020203" charset="0"/>
                <a:cs typeface="Bahnschrift" panose="020B0502040204020203" charset="0"/>
              </a:rPr>
              <a:t>.</a:t>
            </a:r>
            <a:br>
              <a:rPr lang="en-GB" sz="2335" b="0" dirty="0">
                <a:latin typeface="Bahnschrift" panose="020B0502040204020203" charset="0"/>
                <a:cs typeface="Bahnschrift" panose="020B0502040204020203" charset="0"/>
              </a:rPr>
            </a:br>
            <a:endParaRPr lang="en-IN" sz="2335" b="0" dirty="0">
              <a:latin typeface="Bahnschrift" panose="020B0502040204020203" charset="0"/>
              <a:cs typeface="Bahnschrift" panose="020B0502040204020203" charset="0"/>
            </a:endParaRPr>
          </a:p>
        </p:txBody>
      </p:sp>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3"/>
          <a:stretch>
            <a:fillRect/>
          </a:stretch>
        </p:blipFill>
        <p:spPr>
          <a:xfrm>
            <a:off x="467359" y="6410461"/>
            <a:ext cx="3706253" cy="296092"/>
          </a:xfrm>
          <a:prstGeom prst="rect">
            <a:avLst/>
          </a:prstGeom>
        </p:spPr>
      </p:pic>
      <p:pic>
        <p:nvPicPr>
          <p:cNvPr id="2" name="Graphic 9" descr="Car with solid fill">
            <a:extLst>
              <a:ext uri="{FF2B5EF4-FFF2-40B4-BE49-F238E27FC236}">
                <a16:creationId xmlns:a16="http://schemas.microsoft.com/office/drawing/2014/main" id="{7A4C9A02-83B5-6D0D-5AD4-ADCE905886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95481" y="5072932"/>
            <a:ext cx="850384" cy="1012270"/>
          </a:xfrm>
          <a:prstGeom prst="rect">
            <a:avLst/>
          </a:prstGeom>
        </p:spPr>
      </p:pic>
      <p:pic>
        <p:nvPicPr>
          <p:cNvPr id="4" name="Picture 3">
            <a:extLst>
              <a:ext uri="{FF2B5EF4-FFF2-40B4-BE49-F238E27FC236}">
                <a16:creationId xmlns:a16="http://schemas.microsoft.com/office/drawing/2014/main" id="{7E59F81B-3585-CF40-8783-D2568D14C5AD}"/>
              </a:ext>
            </a:extLst>
          </p:cNvPr>
          <p:cNvPicPr>
            <a:picLocks noChangeAspect="1"/>
          </p:cNvPicPr>
          <p:nvPr/>
        </p:nvPicPr>
        <p:blipFill>
          <a:blip r:embed="rId6"/>
          <a:stretch>
            <a:fillRect/>
          </a:stretch>
        </p:blipFill>
        <p:spPr>
          <a:xfrm flipH="1">
            <a:off x="9401533" y="0"/>
            <a:ext cx="1727200" cy="30100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59" y="876300"/>
            <a:ext cx="8454445" cy="5444987"/>
          </a:xfrm>
        </p:spPr>
        <p:txBody>
          <a:bodyPr>
            <a:normAutofit fontScale="90000" lnSpcReduction="20000"/>
          </a:bodyPr>
          <a:lstStyle/>
          <a:p>
            <a:pPr marL="0" indent="0" algn="just">
              <a:lnSpc>
                <a:spcPct val="150000"/>
              </a:lnSpc>
              <a:buNone/>
            </a:pPr>
            <a:endParaRPr lang="en-US" altLang="en-US" sz="3600" b="1" dirty="0"/>
          </a:p>
          <a:p>
            <a:pPr algn="just">
              <a:lnSpc>
                <a:spcPct val="150000"/>
              </a:lnSpc>
            </a:pPr>
            <a:r>
              <a:rPr lang="en-US" altLang="en-US" sz="3600" dirty="0">
                <a:latin typeface="Times New Roman" panose="02020603050405020304" pitchFamily="18" charset="0"/>
                <a:cs typeface="Times New Roman" panose="02020603050405020304" pitchFamily="18" charset="0"/>
              </a:rPr>
              <a:t>Farmers</a:t>
            </a:r>
          </a:p>
          <a:p>
            <a:pPr algn="just">
              <a:lnSpc>
                <a:spcPct val="150000"/>
              </a:lnSpc>
            </a:pPr>
            <a:r>
              <a:rPr lang="en-US" altLang="en-US" sz="3600" dirty="0">
                <a:latin typeface="Times New Roman" panose="02020603050405020304" pitchFamily="18" charset="0"/>
                <a:cs typeface="Times New Roman" panose="02020603050405020304" pitchFamily="18" charset="0"/>
              </a:rPr>
              <a:t>Agricultural planners</a:t>
            </a:r>
          </a:p>
          <a:p>
            <a:pPr algn="just">
              <a:lnSpc>
                <a:spcPct val="150000"/>
              </a:lnSpc>
            </a:pPr>
            <a:r>
              <a:rPr lang="en-US" altLang="en-US" sz="3600" dirty="0">
                <a:latin typeface="Times New Roman" panose="02020603050405020304" pitchFamily="18" charset="0"/>
                <a:cs typeface="Times New Roman" panose="02020603050405020304" pitchFamily="18" charset="0"/>
              </a:rPr>
              <a:t>Government agriculture departments</a:t>
            </a:r>
          </a:p>
          <a:p>
            <a:pPr algn="just">
              <a:lnSpc>
                <a:spcPct val="150000"/>
              </a:lnSpc>
            </a:pPr>
            <a:r>
              <a:rPr lang="en-US" altLang="en-US" sz="3600" dirty="0">
                <a:latin typeface="Times New Roman" panose="02020603050405020304" pitchFamily="18" charset="0"/>
                <a:cs typeface="Times New Roman" panose="02020603050405020304" pitchFamily="18" charset="0"/>
              </a:rPr>
              <a:t>Agricultural researchers</a:t>
            </a:r>
          </a:p>
          <a:p>
            <a:pPr algn="just">
              <a:lnSpc>
                <a:spcPct val="150000"/>
              </a:lnSpc>
            </a:pPr>
            <a:r>
              <a:rPr lang="en-US" altLang="en-US" sz="3600" dirty="0">
                <a:latin typeface="Times New Roman" panose="02020603050405020304" pitchFamily="18" charset="0"/>
                <a:cs typeface="Times New Roman" panose="02020603050405020304" pitchFamily="18" charset="0"/>
              </a:rPr>
              <a:t>Irrigation and resource management teams</a:t>
            </a:r>
          </a:p>
          <a:p>
            <a:pPr algn="just">
              <a:lnSpc>
                <a:spcPct val="150000"/>
              </a:lnSpc>
            </a:pPr>
            <a:r>
              <a:rPr lang="en-US" altLang="en-US" sz="3600" dirty="0">
                <a:latin typeface="Times New Roman" panose="02020603050405020304" pitchFamily="18" charset="0"/>
                <a:cs typeface="Times New Roman" panose="02020603050405020304" pitchFamily="18" charset="0"/>
              </a:rPr>
              <a:t>Agribusiness organizations</a:t>
            </a:r>
          </a:p>
          <a:p>
            <a:pPr algn="just">
              <a:lnSpc>
                <a:spcPct val="150000"/>
              </a:lnSpc>
            </a:pPr>
            <a:endParaRPr lang="en-US" altLang="en-US" sz="3600" b="1" dirty="0"/>
          </a:p>
          <a:p>
            <a:pPr algn="just">
              <a:lnSpc>
                <a:spcPct val="150000"/>
              </a:lnSpc>
            </a:pPr>
            <a:endParaRPr lang="en-US" altLang="en-US" sz="3600" b="1" dirty="0"/>
          </a:p>
        </p:txBody>
      </p:sp>
      <p:sp>
        <p:nvSpPr>
          <p:cNvPr id="4" name="Title 3"/>
          <p:cNvSpPr>
            <a:spLocks noGrp="1"/>
          </p:cNvSpPr>
          <p:nvPr>
            <p:ph type="title"/>
          </p:nvPr>
        </p:nvSpPr>
        <p:spPr>
          <a:xfrm>
            <a:off x="620008" y="876617"/>
            <a:ext cx="10046070" cy="802641"/>
          </a:xfrm>
        </p:spPr>
        <p:txBody>
          <a:bodyPr>
            <a:normAutofit/>
          </a:bodyPr>
          <a:lstStyle/>
          <a:p>
            <a:r>
              <a:rPr lang="en-US" sz="3200" dirty="0">
                <a:latin typeface="Times New Roman" panose="02020603050405020304" pitchFamily="18" charset="0"/>
                <a:cs typeface="Times New Roman" panose="02020603050405020304" pitchFamily="18" charset="0"/>
              </a:rPr>
              <a:t>WHO ARE THE END USERS?</a:t>
            </a:r>
            <a:endParaRPr lang="en-IN" sz="20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721359" y="6176804"/>
            <a:ext cx="2181225" cy="485775"/>
          </a:xfrm>
          <a:prstGeom prst="rect">
            <a:avLst/>
          </a:prstGeom>
        </p:spPr>
      </p:pic>
      <p:pic>
        <p:nvPicPr>
          <p:cNvPr id="5" name="Graphic 4" descr="Bar chart">
            <a:extLst>
              <a:ext uri="{FF2B5EF4-FFF2-40B4-BE49-F238E27FC236}">
                <a16:creationId xmlns:a16="http://schemas.microsoft.com/office/drawing/2014/main" id="{AEE33038-02C6-DC66-D677-D2BC0744E8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35872" y="5262404"/>
            <a:ext cx="914400" cy="914400"/>
          </a:xfrm>
          <a:prstGeom prst="rect">
            <a:avLst/>
          </a:prstGeom>
        </p:spPr>
      </p:pic>
      <p:pic>
        <p:nvPicPr>
          <p:cNvPr id="8" name="Graphic 7" descr="Magnifying glass">
            <a:extLst>
              <a:ext uri="{FF2B5EF4-FFF2-40B4-BE49-F238E27FC236}">
                <a16:creationId xmlns:a16="http://schemas.microsoft.com/office/drawing/2014/main" id="{60C649A5-5522-DE11-5B8D-FB259A1588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77155" y="938026"/>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67359" y="6410461"/>
            <a:ext cx="3706253" cy="296092"/>
          </a:xfrm>
          <a:prstGeom prst="rect">
            <a:avLst/>
          </a:prstGeom>
        </p:spPr>
      </p:pic>
      <p:pic>
        <p:nvPicPr>
          <p:cNvPr id="2" name="Picture 1"/>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1365167" y="1315720"/>
            <a:ext cx="7639685" cy="4541520"/>
          </a:xfrm>
        </p:spPr>
        <p:txBody>
          <a:bodyPr>
            <a:noAutofit/>
          </a:bodyPr>
          <a:lstStyle/>
          <a:p>
            <a:pPr lvl="1">
              <a:lnSpc>
                <a:spcPct val="150000"/>
              </a:lnSpc>
            </a:pPr>
            <a:r>
              <a:rPr lang="en-US" altLang="en-US" sz="2600" b="1" dirty="0">
                <a:latin typeface="Times New Roman" panose="02020603050405020304" pitchFamily="18" charset="0"/>
                <a:cs typeface="Times New Roman" panose="02020603050405020304" pitchFamily="18" charset="0"/>
              </a:rPr>
              <a:t>Programming Language</a:t>
            </a:r>
            <a:r>
              <a:rPr lang="en-US" altLang="en-US" sz="2600" dirty="0">
                <a:latin typeface="Times New Roman" panose="02020603050405020304" pitchFamily="18" charset="0"/>
                <a:cs typeface="Times New Roman" panose="02020603050405020304" pitchFamily="18" charset="0"/>
              </a:rPr>
              <a:t> :Python</a:t>
            </a:r>
          </a:p>
          <a:p>
            <a:pPr lvl="1">
              <a:lnSpc>
                <a:spcPct val="150000"/>
              </a:lnSpc>
            </a:pPr>
            <a:r>
              <a:rPr lang="en-US" altLang="en-US" sz="2600" b="1" dirty="0">
                <a:latin typeface="Times New Roman" panose="02020603050405020304" pitchFamily="18" charset="0"/>
                <a:cs typeface="Times New Roman" panose="02020603050405020304" pitchFamily="18" charset="0"/>
              </a:rPr>
              <a:t>Libraries</a:t>
            </a:r>
            <a:r>
              <a:rPr lang="en-US" altLang="en-US" sz="2600" dirty="0">
                <a:latin typeface="Times New Roman" panose="02020603050405020304" pitchFamily="18" charset="0"/>
                <a:cs typeface="Times New Roman" panose="02020603050405020304" pitchFamily="18" charset="0"/>
              </a:rPr>
              <a:t> : Pandas , NumPy , Matplotlib , Seaborn</a:t>
            </a:r>
          </a:p>
          <a:p>
            <a:pPr lvl="1">
              <a:lnSpc>
                <a:spcPct val="150000"/>
              </a:lnSpc>
            </a:pPr>
            <a:r>
              <a:rPr lang="en-US" altLang="en-US" sz="2600" b="1" dirty="0">
                <a:latin typeface="Times New Roman" panose="02020603050405020304" pitchFamily="18" charset="0"/>
                <a:cs typeface="Times New Roman" panose="02020603050405020304" pitchFamily="18" charset="0"/>
              </a:rPr>
              <a:t>Tools</a:t>
            </a:r>
            <a:r>
              <a:rPr lang="en-US" altLang="en-US" sz="2600" dirty="0">
                <a:latin typeface="Times New Roman" panose="02020603050405020304" pitchFamily="18" charset="0"/>
                <a:cs typeface="Times New Roman" panose="02020603050405020304" pitchFamily="18" charset="0"/>
              </a:rPr>
              <a:t> : Jupyter Notebook / Google Colab , GitHub</a:t>
            </a:r>
          </a:p>
          <a:p>
            <a:pPr lvl="1">
              <a:lnSpc>
                <a:spcPct val="150000"/>
              </a:lnSpc>
            </a:pPr>
            <a:r>
              <a:rPr lang="en-US" altLang="en-US" sz="2600" b="1" dirty="0">
                <a:latin typeface="Times New Roman" panose="02020603050405020304" pitchFamily="18" charset="0"/>
                <a:cs typeface="Times New Roman" panose="02020603050405020304" pitchFamily="18" charset="0"/>
              </a:rPr>
              <a:t>Techniques</a:t>
            </a:r>
            <a:r>
              <a:rPr lang="en-US" altLang="en-US" sz="2600" dirty="0">
                <a:latin typeface="Times New Roman" panose="02020603050405020304" pitchFamily="18" charset="0"/>
                <a:cs typeface="Times New Roman" panose="02020603050405020304" pitchFamily="18" charset="0"/>
              </a:rPr>
              <a:t> : Data Cleaning , EDA , IQR Outlier Detection , Correlation Analysis , Data Visualization</a:t>
            </a:r>
          </a:p>
        </p:txBody>
      </p:sp>
      <p:sp>
        <p:nvSpPr>
          <p:cNvPr id="9" name="Title 8"/>
          <p:cNvSpPr>
            <a:spLocks noGrp="1"/>
          </p:cNvSpPr>
          <p:nvPr>
            <p:ph type="title"/>
          </p:nvPr>
        </p:nvSpPr>
        <p:spPr>
          <a:xfrm>
            <a:off x="1161331" y="148362"/>
            <a:ext cx="5306291" cy="847817"/>
          </a:xfrm>
        </p:spPr>
        <p:txBody>
          <a:bodyPr>
            <a:normAutofit/>
          </a:bodyPr>
          <a:lstStyle/>
          <a:p>
            <a:r>
              <a:rPr lang="en-US" dirty="0">
                <a:latin typeface="Times New Roman" panose="02020603050405020304" pitchFamily="18" charset="0"/>
                <a:cs typeface="Times New Roman" panose="02020603050405020304" pitchFamily="18" charset="0"/>
              </a:rPr>
              <a:t>Technology Used</a:t>
            </a:r>
          </a:p>
        </p:txBody>
      </p:sp>
      <p:pic>
        <p:nvPicPr>
          <p:cNvPr id="3" name="Graphic 7" descr="Stack of books with pear">
            <a:extLst>
              <a:ext uri="{FF2B5EF4-FFF2-40B4-BE49-F238E27FC236}">
                <a16:creationId xmlns:a16="http://schemas.microsoft.com/office/drawing/2014/main" id="{4EF4DA57-642E-9FBD-5896-891A3FFFDDD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10726404" y="193058"/>
            <a:ext cx="1699613" cy="16062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sz="4400" dirty="0">
                <a:latin typeface="Times New Roman" panose="02020603050405020304" pitchFamily="18" charset="0"/>
                <a:cs typeface="Times New Roman" panose="02020603050405020304" pitchFamily="18" charset="0"/>
              </a:rPr>
              <a:t>RESULTS </a:t>
            </a:r>
            <a:endParaRPr lang="en-IN" sz="4400" dirty="0">
              <a:latin typeface="Times New Roman" panose="02020603050405020304" pitchFamily="18" charset="0"/>
              <a:cs typeface="Times New Roman" panose="02020603050405020304" pitchFamily="18" charset="0"/>
            </a:endParaRPr>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rcRect t="2564"/>
          <a:stretch>
            <a:fillRect/>
          </a:stretch>
        </p:blipFill>
        <p:spPr>
          <a:xfrm>
            <a:off x="5390214" y="296378"/>
            <a:ext cx="5940395" cy="6089651"/>
          </a:xfrm>
          <a:prstGeom prst="rect">
            <a:avLst/>
          </a:prstGeom>
        </p:spPr>
      </p:pic>
      <p:sp>
        <p:nvSpPr>
          <p:cNvPr id="3" name="Text Box 2"/>
          <p:cNvSpPr txBox="1"/>
          <p:nvPr/>
        </p:nvSpPr>
        <p:spPr>
          <a:xfrm>
            <a:off x="500932" y="1275080"/>
            <a:ext cx="4492487" cy="6089650"/>
          </a:xfrm>
          <a:prstGeom prst="rect">
            <a:avLst/>
          </a:prstGeom>
        </p:spPr>
        <p:txBody>
          <a:bodyPr wrap="square">
            <a:noAutofit/>
          </a:bodyPr>
          <a:lstStyle/>
          <a:p>
            <a:pPr algn="ctr"/>
            <a:r>
              <a:rPr sz="2000" b="1" dirty="0">
                <a:latin typeface="Times New Roman" panose="02020603050405020304" pitchFamily="18" charset="0"/>
                <a:cs typeface="Times New Roman" panose="02020603050405020304" pitchFamily="18" charset="0"/>
              </a:rPr>
              <a:t>Dataset Overview</a:t>
            </a:r>
            <a:r>
              <a:rPr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algn="ctr"/>
            <a:endParaRPr sz="2000" dirty="0">
              <a:latin typeface="Times New Roman" panose="02020603050405020304" pitchFamily="18" charset="0"/>
              <a:cs typeface="Times New Roman" panose="02020603050405020304" pitchFamily="18" charset="0"/>
            </a:endParaRPr>
          </a:p>
          <a:p>
            <a:pPr algn="ctr"/>
            <a:r>
              <a:rPr sz="2000" dirty="0">
                <a:latin typeface="Times New Roman" panose="02020603050405020304" pitchFamily="18" charset="0"/>
                <a:cs typeface="Times New Roman" panose="02020603050405020304" pitchFamily="18" charset="0"/>
              </a:rPr>
              <a:t> • 4,000 Records</a:t>
            </a:r>
          </a:p>
          <a:p>
            <a:pPr algn="ctr"/>
            <a:r>
              <a:rPr sz="2000" dirty="0">
                <a:latin typeface="Times New Roman" panose="02020603050405020304" pitchFamily="18" charset="0"/>
                <a:cs typeface="Times New Roman" panose="02020603050405020304" pitchFamily="18" charset="0"/>
              </a:rPr>
              <a:t> • 28 Variables</a:t>
            </a:r>
          </a:p>
          <a:p>
            <a:pPr algn="ctr"/>
            <a:r>
              <a:rPr sz="2000" dirty="0">
                <a:latin typeface="Times New Roman" panose="02020603050405020304" pitchFamily="18" charset="0"/>
                <a:cs typeface="Times New Roman" panose="02020603050405020304" pitchFamily="18" charset="0"/>
              </a:rPr>
              <a:t> • 17 Float </a:t>
            </a:r>
          </a:p>
          <a:p>
            <a:pPr algn="ctr"/>
            <a:r>
              <a:rPr sz="2000" dirty="0">
                <a:latin typeface="Times New Roman" panose="02020603050405020304" pitchFamily="18" charset="0"/>
                <a:cs typeface="Times New Roman" panose="02020603050405020304" pitchFamily="18" charset="0"/>
              </a:rPr>
              <a:t> • 5 Integer </a:t>
            </a:r>
          </a:p>
          <a:p>
            <a:pPr algn="ctr"/>
            <a:r>
              <a:rPr lang="en-US" sz="20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 6 Categorical </a:t>
            </a:r>
          </a:p>
          <a:p>
            <a:pPr algn="ctr"/>
            <a:r>
              <a:rPr sz="2000" dirty="0">
                <a:latin typeface="Times New Roman" panose="02020603050405020304" pitchFamily="18" charset="0"/>
                <a:cs typeface="Times New Roman" panose="02020603050405020304" pitchFamily="18" charset="0"/>
              </a:rPr>
              <a:t> </a:t>
            </a:r>
          </a:p>
          <a:p>
            <a:pPr algn="ctr"/>
            <a:r>
              <a:rPr sz="2000" b="1" dirty="0">
                <a:latin typeface="Times New Roman" panose="02020603050405020304" pitchFamily="18" charset="0"/>
                <a:cs typeface="Times New Roman" panose="02020603050405020304" pitchFamily="18" charset="0"/>
              </a:rPr>
              <a:t>Data Quality </a:t>
            </a:r>
            <a:r>
              <a:rPr lang="en-US" sz="2000" b="1" dirty="0">
                <a:latin typeface="Times New Roman" panose="02020603050405020304" pitchFamily="18" charset="0"/>
                <a:cs typeface="Times New Roman" panose="02020603050405020304" pitchFamily="18" charset="0"/>
              </a:rPr>
              <a:t>:</a:t>
            </a:r>
            <a:endParaRPr sz="2000" b="1" dirty="0">
              <a:latin typeface="Times New Roman" panose="02020603050405020304" pitchFamily="18" charset="0"/>
              <a:cs typeface="Times New Roman" panose="02020603050405020304" pitchFamily="18" charset="0"/>
            </a:endParaRPr>
          </a:p>
          <a:p>
            <a:pPr algn="ctr"/>
            <a:endParaRPr sz="2000" dirty="0">
              <a:latin typeface="Times New Roman" panose="02020603050405020304" pitchFamily="18" charset="0"/>
              <a:cs typeface="Times New Roman" panose="02020603050405020304" pitchFamily="18" charset="0"/>
            </a:endParaRPr>
          </a:p>
          <a:p>
            <a:pPr algn="ctr"/>
            <a:r>
              <a:rPr sz="2000" dirty="0">
                <a:latin typeface="Times New Roman" panose="02020603050405020304" pitchFamily="18" charset="0"/>
                <a:cs typeface="Times New Roman" panose="02020603050405020304" pitchFamily="18" charset="0"/>
                <a:sym typeface="+mn-ea"/>
              </a:rPr>
              <a:t>• </a:t>
            </a:r>
            <a:r>
              <a:rPr lang="en-US" sz="2000" dirty="0">
                <a:latin typeface="Times New Roman" panose="02020603050405020304" pitchFamily="18" charset="0"/>
                <a:cs typeface="Times New Roman" panose="02020603050405020304" pitchFamily="18" charset="0"/>
                <a:sym typeface="+mn-ea"/>
              </a:rPr>
              <a:t>314 </a:t>
            </a:r>
            <a:r>
              <a:rPr sz="2000" dirty="0">
                <a:latin typeface="Times New Roman" panose="02020603050405020304" pitchFamily="18" charset="0"/>
                <a:cs typeface="Times New Roman" panose="02020603050405020304" pitchFamily="18" charset="0"/>
              </a:rPr>
              <a:t>Missing values</a:t>
            </a:r>
          </a:p>
          <a:p>
            <a:pPr algn="ctr"/>
            <a:r>
              <a:rPr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0 </a:t>
            </a:r>
            <a:r>
              <a:rPr sz="2000" dirty="0">
                <a:latin typeface="Times New Roman" panose="02020603050405020304" pitchFamily="18" charset="0"/>
                <a:cs typeface="Times New Roman" panose="02020603050405020304" pitchFamily="18" charset="0"/>
              </a:rPr>
              <a:t>Duplicates</a:t>
            </a:r>
            <a:r>
              <a:rPr lang="en-US" sz="2000" dirty="0">
                <a:latin typeface="Times New Roman" panose="02020603050405020304" pitchFamily="18" charset="0"/>
                <a:cs typeface="Times New Roman" panose="02020603050405020304" pitchFamily="18" charset="0"/>
              </a:rPr>
              <a:t> Records</a:t>
            </a:r>
            <a:endParaRPr sz="2000" dirty="0">
              <a:latin typeface="Times New Roman" panose="02020603050405020304" pitchFamily="18" charset="0"/>
              <a:cs typeface="Times New Roman" panose="02020603050405020304" pitchFamily="18" charset="0"/>
            </a:endParaRPr>
          </a:p>
          <a:p>
            <a:pPr algn="ctr"/>
            <a:r>
              <a:rPr sz="2000" dirty="0">
                <a:latin typeface="Times New Roman" panose="02020603050405020304" pitchFamily="18" charset="0"/>
                <a:cs typeface="Times New Roman" panose="02020603050405020304" pitchFamily="18" charset="0"/>
              </a:rPr>
              <a:t> </a:t>
            </a:r>
          </a:p>
          <a:p>
            <a:pPr algn="ctr"/>
            <a:r>
              <a:rPr sz="2000" dirty="0">
                <a:latin typeface="Times New Roman" panose="02020603050405020304" pitchFamily="18" charset="0"/>
                <a:cs typeface="Times New Roman" panose="02020603050405020304" pitchFamily="18" charset="0"/>
              </a:rPr>
              <a:t> </a:t>
            </a:r>
            <a:r>
              <a:rPr sz="2000" b="1" dirty="0">
                <a:latin typeface="Times New Roman" panose="02020603050405020304" pitchFamily="18" charset="0"/>
                <a:cs typeface="Times New Roman" panose="02020603050405020304" pitchFamily="18" charset="0"/>
              </a:rPr>
              <a:t>Preprocessing </a:t>
            </a:r>
            <a:r>
              <a:rPr lang="en-US" sz="2000" b="1" dirty="0">
                <a:latin typeface="Times New Roman" panose="02020603050405020304" pitchFamily="18" charset="0"/>
                <a:cs typeface="Times New Roman" panose="02020603050405020304" pitchFamily="18" charset="0"/>
              </a:rPr>
              <a:t>:</a:t>
            </a:r>
            <a:endParaRPr sz="2000" b="1" dirty="0">
              <a:latin typeface="Times New Roman" panose="02020603050405020304" pitchFamily="18" charset="0"/>
              <a:cs typeface="Times New Roman" panose="02020603050405020304" pitchFamily="18" charset="0"/>
            </a:endParaRPr>
          </a:p>
          <a:p>
            <a:pPr algn="ctr"/>
            <a:endParaRPr sz="2000" dirty="0">
              <a:latin typeface="Times New Roman" panose="02020603050405020304" pitchFamily="18" charset="0"/>
              <a:cs typeface="Times New Roman" panose="02020603050405020304" pitchFamily="18" charset="0"/>
            </a:endParaRPr>
          </a:p>
          <a:p>
            <a:pPr algn="ctr"/>
            <a:r>
              <a:rPr sz="2000" dirty="0">
                <a:latin typeface="Times New Roman" panose="02020603050405020304" pitchFamily="18" charset="0"/>
                <a:cs typeface="Times New Roman" panose="02020603050405020304" pitchFamily="18" charset="0"/>
              </a:rPr>
              <a:t> • Median  imputation </a:t>
            </a:r>
          </a:p>
          <a:p>
            <a:pPr algn="ctr"/>
            <a:r>
              <a:rPr sz="2000" dirty="0">
                <a:latin typeface="Times New Roman" panose="02020603050405020304" pitchFamily="18" charset="0"/>
                <a:cs typeface="Times New Roman" panose="02020603050405020304" pitchFamily="18" charset="0"/>
              </a:rPr>
              <a:t>• IQR outliers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5750049" y="5275856"/>
            <a:ext cx="4617720" cy="66611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Seasonal Yield Comparison</a:t>
            </a:r>
            <a:endParaRPr lang="en-GB" sz="2400" dirty="0">
              <a:latin typeface="Times New Roman" panose="02020603050405020304" pitchFamily="18" charset="0"/>
              <a:cs typeface="Times New Roman" panose="02020603050405020304" pitchFamily="18" charset="0"/>
            </a:endParaRPr>
          </a:p>
        </p:txBody>
      </p:sp>
      <p:sp>
        <p:nvSpPr>
          <p:cNvPr id="10" name="Text Placeholder 1"/>
          <p:cNvSpPr>
            <a:spLocks noGrp="1"/>
          </p:cNvSpPr>
          <p:nvPr>
            <p:ph type="body" sz="quarter" idx="12"/>
          </p:nvPr>
        </p:nvSpPr>
        <p:spPr>
          <a:xfrm>
            <a:off x="807164" y="1431693"/>
            <a:ext cx="4275138" cy="477520"/>
          </a:xfrm>
        </p:spPr>
        <p:txBody>
          <a:bodyPr>
            <a:normAutofit fontScale="25000" lnSpcReduction="20000"/>
          </a:bodyPr>
          <a:lstStyle/>
          <a:p>
            <a:pPr marL="0" indent="0">
              <a:buNone/>
            </a:pPr>
            <a:r>
              <a:rPr lang="en-US" altLang="en-US" sz="8000" dirty="0">
                <a:latin typeface="Times New Roman" panose="02020603050405020304" pitchFamily="18" charset="0"/>
                <a:cs typeface="Times New Roman" panose="02020603050405020304" pitchFamily="18" charset="0"/>
              </a:rPr>
              <a:t>Kharif: 5.64 Tonnes/Ha</a:t>
            </a:r>
          </a:p>
          <a:p>
            <a:pPr marL="0" indent="0">
              <a:buNone/>
            </a:pPr>
            <a:r>
              <a:rPr lang="en-US" altLang="en-US" sz="8000" dirty="0">
                <a:latin typeface="Times New Roman" panose="02020603050405020304" pitchFamily="18" charset="0"/>
                <a:cs typeface="Times New Roman" panose="02020603050405020304" pitchFamily="18" charset="0"/>
              </a:rPr>
              <a:t>Rabi: 5.08 Tonnes/Ha</a:t>
            </a:r>
          </a:p>
          <a:p>
            <a:pPr marL="0" indent="0">
              <a:buNone/>
            </a:pPr>
            <a:r>
              <a:rPr lang="en-US" altLang="en-US" sz="8000" dirty="0">
                <a:latin typeface="Times New Roman" panose="02020603050405020304" pitchFamily="18" charset="0"/>
                <a:cs typeface="Times New Roman" panose="02020603050405020304" pitchFamily="18" charset="0"/>
              </a:rPr>
              <a:t>Zaid: 4.67 Tonnes/Ha</a:t>
            </a:r>
          </a:p>
          <a:p>
            <a:pPr marL="0" indent="0">
              <a:buNone/>
            </a:pPr>
            <a:endParaRPr lang="en-US" altLang="en-US" sz="8000" dirty="0">
              <a:latin typeface="Times New Roman" panose="02020603050405020304" pitchFamily="18" charset="0"/>
              <a:cs typeface="Times New Roman" panose="02020603050405020304" pitchFamily="18" charset="0"/>
            </a:endParaRPr>
          </a:p>
          <a:p>
            <a:pPr marL="0" indent="0">
              <a:buNone/>
            </a:pPr>
            <a:r>
              <a:rPr lang="en-US" altLang="en-US" sz="8000" dirty="0">
                <a:latin typeface="Times New Roman" panose="02020603050405020304" pitchFamily="18" charset="0"/>
                <a:cs typeface="Times New Roman" panose="02020603050405020304" pitchFamily="18" charset="0"/>
              </a:rPr>
              <a:t>Key Finding:</a:t>
            </a:r>
          </a:p>
          <a:p>
            <a:pPr marL="0" indent="0">
              <a:buNone/>
            </a:pPr>
            <a:r>
              <a:rPr lang="en-US" altLang="en-US" sz="8000" dirty="0">
                <a:latin typeface="Times New Roman" panose="02020603050405020304" pitchFamily="18" charset="0"/>
                <a:cs typeface="Times New Roman" panose="02020603050405020304" pitchFamily="18" charset="0"/>
              </a:rPr>
              <a:t>Kharif recorded the highest average yield,</a:t>
            </a:r>
          </a:p>
          <a:p>
            <a:pPr marL="0" indent="0">
              <a:buNone/>
            </a:pPr>
            <a:r>
              <a:rPr lang="en-US" altLang="en-US" sz="8000" dirty="0">
                <a:latin typeface="Times New Roman" panose="02020603050405020304" pitchFamily="18" charset="0"/>
                <a:cs typeface="Times New Roman" panose="02020603050405020304" pitchFamily="18" charset="0"/>
              </a:rPr>
              <a:t>followed by Rabi and Zaid.</a:t>
            </a:r>
          </a:p>
          <a:p>
            <a:pPr marL="0" indent="0">
              <a:buNone/>
            </a:pPr>
            <a:endParaRPr lang="en-US" altLang="en-US" sz="8000" dirty="0">
              <a:latin typeface="Times New Roman" panose="02020603050405020304" pitchFamily="18" charset="0"/>
              <a:cs typeface="Times New Roman" panose="02020603050405020304" pitchFamily="18" charset="0"/>
            </a:endParaRPr>
          </a:p>
          <a:p>
            <a:pPr marL="0" indent="0">
              <a:buNone/>
            </a:pPr>
            <a:r>
              <a:rPr lang="en-US" altLang="en-US" sz="8000" dirty="0">
                <a:latin typeface="Times New Roman" panose="02020603050405020304" pitchFamily="18" charset="0"/>
                <a:cs typeface="Times New Roman" panose="02020603050405020304" pitchFamily="18" charset="0"/>
              </a:rPr>
              <a:t>This indicates that agricultural yield varies across seasons.</a:t>
            </a:r>
          </a:p>
        </p:txBody>
      </p:sp>
      <p:pic>
        <p:nvPicPr>
          <p:cNvPr id="2" name="Picture 1"/>
          <p:cNvPicPr>
            <a:picLocks noChangeAspect="1"/>
          </p:cNvPicPr>
          <p:nvPr/>
        </p:nvPicPr>
        <p:blipFill>
          <a:blip r:embed="rId3"/>
          <a:stretch>
            <a:fillRect/>
          </a:stretch>
        </p:blipFill>
        <p:spPr>
          <a:xfrm>
            <a:off x="5331902" y="2265956"/>
            <a:ext cx="5454015" cy="30099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5" end="5"/>
                                            </p:txEl>
                                          </p:spTgt>
                                        </p:tgtEl>
                                        <p:attrNameLst>
                                          <p:attrName>style.visibility</p:attrName>
                                        </p:attrNameLst>
                                      </p:cBhvr>
                                      <p:to>
                                        <p:strVal val="visible"/>
                                      </p:to>
                                    </p:set>
                                    <p:animEffect transition="in" filter="fade">
                                      <p:cBhvr>
                                        <p:cTn id="56" dur="1000"/>
                                        <p:tgtEl>
                                          <p:spTgt spid="10">
                                            <p:txEl>
                                              <p:pRg st="5" end="5"/>
                                            </p:txEl>
                                          </p:spTgt>
                                        </p:tgtEl>
                                      </p:cBhvr>
                                    </p:animEffect>
                                    <p:anim calcmode="lin" valueType="num">
                                      <p:cBhvr>
                                        <p:cTn id="5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6" end="6"/>
                                            </p:txEl>
                                          </p:spTgt>
                                        </p:tgtEl>
                                        <p:attrNameLst>
                                          <p:attrName>style.visibility</p:attrName>
                                        </p:attrNameLst>
                                      </p:cBhvr>
                                      <p:to>
                                        <p:strVal val="visible"/>
                                      </p:to>
                                    </p:set>
                                    <p:animEffect transition="in" filter="fade">
                                      <p:cBhvr>
                                        <p:cTn id="63" dur="1000"/>
                                        <p:tgtEl>
                                          <p:spTgt spid="10">
                                            <p:txEl>
                                              <p:pRg st="6" end="6"/>
                                            </p:txEl>
                                          </p:spTgt>
                                        </p:tgtEl>
                                      </p:cBhvr>
                                    </p:animEffect>
                                    <p:anim calcmode="lin" valueType="num">
                                      <p:cBhvr>
                                        <p:cTn id="64"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8" end="8"/>
                                            </p:txEl>
                                          </p:spTgt>
                                        </p:tgtEl>
                                        <p:attrNameLst>
                                          <p:attrName>style.visibility</p:attrName>
                                        </p:attrNameLst>
                                      </p:cBhvr>
                                      <p:to>
                                        <p:strVal val="visible"/>
                                      </p:to>
                                    </p:set>
                                    <p:animEffect transition="in" filter="fade">
                                      <p:cBhvr>
                                        <p:cTn id="70" dur="1000"/>
                                        <p:tgtEl>
                                          <p:spTgt spid="10">
                                            <p:txEl>
                                              <p:pRg st="8" end="8"/>
                                            </p:txEl>
                                          </p:spTgt>
                                        </p:tgtEl>
                                      </p:cBhvr>
                                    </p:animEffect>
                                    <p:anim calcmode="lin" valueType="num">
                                      <p:cBhvr>
                                        <p:cTn id="71"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1097377" y="408523"/>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 Box 1"/>
          <p:cNvSpPr txBox="1"/>
          <p:nvPr/>
        </p:nvSpPr>
        <p:spPr>
          <a:xfrm>
            <a:off x="1034098" y="1305560"/>
            <a:ext cx="3506098" cy="5034280"/>
          </a:xfrm>
          <a:prstGeom prst="rect">
            <a:avLst/>
          </a:prstGeom>
          <a:noFill/>
        </p:spPr>
        <p:txBody>
          <a:bodyPr wrap="square" rtlCol="0" anchor="t">
            <a:noAutofit/>
          </a:bodyPr>
          <a:lstStyle/>
          <a:p>
            <a:r>
              <a:rPr lang="en-US" altLang="en-US" dirty="0">
                <a:latin typeface="Times New Roman" panose="02020603050405020304" pitchFamily="18" charset="0"/>
                <a:cs typeface="Times New Roman" panose="02020603050405020304" pitchFamily="18" charset="0"/>
              </a:rPr>
              <a:t>Environmental Factors vs Yield</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Rainfall vs Yield: 0.03</a:t>
            </a:r>
          </a:p>
          <a:p>
            <a:r>
              <a:rPr lang="en-US" altLang="en-US" dirty="0">
                <a:latin typeface="Times New Roman" panose="02020603050405020304" pitchFamily="18" charset="0"/>
                <a:cs typeface="Times New Roman" panose="02020603050405020304" pitchFamily="18" charset="0"/>
              </a:rPr>
              <a:t>Temperature vs Yield: 0.01</a:t>
            </a:r>
          </a:p>
          <a:p>
            <a:r>
              <a:rPr lang="en-US" altLang="en-US" dirty="0">
                <a:latin typeface="Times New Roman" panose="02020603050405020304" pitchFamily="18" charset="0"/>
                <a:cs typeface="Times New Roman" panose="02020603050405020304" pitchFamily="18" charset="0"/>
              </a:rPr>
              <a:t>Humidity vs Yield: 0.01</a:t>
            </a:r>
          </a:p>
          <a:p>
            <a:r>
              <a:rPr lang="en-US" altLang="en-US" dirty="0">
                <a:latin typeface="Times New Roman" panose="02020603050405020304" pitchFamily="18" charset="0"/>
                <a:cs typeface="Times New Roman" panose="02020603050405020304" pitchFamily="18" charset="0"/>
              </a:rPr>
              <a:t>Sunlight vs Yield: -0.02</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Key Finding:</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Individual environmental factors </a:t>
            </a:r>
          </a:p>
          <a:p>
            <a:r>
              <a:rPr lang="en-US" altLang="en-US" dirty="0">
                <a:latin typeface="Times New Roman" panose="02020603050405020304" pitchFamily="18" charset="0"/>
                <a:cs typeface="Times New Roman" panose="02020603050405020304" pitchFamily="18" charset="0"/>
              </a:rPr>
              <a:t>showed very weak linear </a:t>
            </a:r>
          </a:p>
          <a:p>
            <a:r>
              <a:rPr lang="en-US" altLang="en-US" dirty="0">
                <a:latin typeface="Times New Roman" panose="02020603050405020304" pitchFamily="18" charset="0"/>
                <a:cs typeface="Times New Roman" panose="02020603050405020304" pitchFamily="18" charset="0"/>
              </a:rPr>
              <a:t>correlations with yield.</a:t>
            </a:r>
          </a:p>
          <a:p>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Therefore, seasonal yield </a:t>
            </a:r>
          </a:p>
          <a:p>
            <a:r>
              <a:rPr lang="en-US" altLang="en-US" dirty="0">
                <a:latin typeface="Times New Roman" panose="02020603050405020304" pitchFamily="18" charset="0"/>
                <a:cs typeface="Times New Roman" panose="02020603050405020304" pitchFamily="18" charset="0"/>
              </a:rPr>
              <a:t>difference cannot be explained</a:t>
            </a:r>
          </a:p>
          <a:p>
            <a:r>
              <a:rPr lang="en-US" altLang="en-US" dirty="0">
                <a:latin typeface="Times New Roman" panose="02020603050405020304" pitchFamily="18" charset="0"/>
                <a:cs typeface="Times New Roman" panose="02020603050405020304" pitchFamily="18" charset="0"/>
              </a:rPr>
              <a:t>by a </a:t>
            </a:r>
            <a:r>
              <a:rPr lang="en-US" altLang="en-US" dirty="0" err="1">
                <a:latin typeface="Times New Roman" panose="02020603050405020304" pitchFamily="18" charset="0"/>
                <a:cs typeface="Times New Roman" panose="02020603050405020304" pitchFamily="18" charset="0"/>
              </a:rPr>
              <a:t>singleenvironmental</a:t>
            </a:r>
            <a:r>
              <a:rPr lang="en-US" altLang="en-US" dirty="0">
                <a:latin typeface="Times New Roman" panose="02020603050405020304" pitchFamily="18" charset="0"/>
                <a:cs typeface="Times New Roman" panose="02020603050405020304" pitchFamily="18" charset="0"/>
              </a:rPr>
              <a:t> </a:t>
            </a:r>
          </a:p>
          <a:p>
            <a:r>
              <a:rPr lang="en-US" altLang="en-US" dirty="0">
                <a:latin typeface="Times New Roman" panose="02020603050405020304" pitchFamily="18" charset="0"/>
                <a:cs typeface="Times New Roman" panose="02020603050405020304" pitchFamily="18" charset="0"/>
              </a:rPr>
              <a:t>factor alone.</a:t>
            </a: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4A79937-3D5C-6EE6-CCDE-ABE4C1DED501}"/>
              </a:ext>
            </a:extLst>
          </p:cNvPr>
          <p:cNvPicPr>
            <a:picLocks noChangeAspect="1"/>
          </p:cNvPicPr>
          <p:nvPr/>
        </p:nvPicPr>
        <p:blipFill>
          <a:blip r:embed="rId3"/>
          <a:stretch>
            <a:fillRect/>
          </a:stretch>
        </p:blipFill>
        <p:spPr>
          <a:xfrm>
            <a:off x="4377660" y="499154"/>
            <a:ext cx="7573150" cy="56790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 </a:t>
            </a:r>
            <a:endParaRPr lang="en-IN" dirty="0">
              <a:latin typeface="Times New Roman" panose="02020603050405020304" pitchFamily="18" charset="0"/>
              <a:cs typeface="Times New Roman" panose="02020603050405020304" pitchFamily="18" charset="0"/>
            </a:endParaRPr>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439420" y="1842770"/>
            <a:ext cx="2522855" cy="3967480"/>
          </a:xfrm>
        </p:spPr>
        <p:txBody>
          <a:bodyPr>
            <a:normAutofit/>
          </a:bodyPr>
          <a:lstStyle/>
          <a:p>
            <a:pPr marL="0" indent="0">
              <a:buNone/>
            </a:pPr>
            <a:r>
              <a:rPr lang="en-US" altLang="en-US" dirty="0">
                <a:sym typeface="+mn-ea"/>
              </a:rPr>
              <a:t>Kharif: 6,102 m³</a:t>
            </a:r>
            <a:endParaRPr lang="en-US" altLang="en-US" dirty="0"/>
          </a:p>
          <a:p>
            <a:pPr marL="0" indent="0">
              <a:buNone/>
            </a:pPr>
            <a:r>
              <a:rPr lang="en-US" altLang="en-US" dirty="0">
                <a:sym typeface="+mn-ea"/>
              </a:rPr>
              <a:t>Rabi: 5,847 m³</a:t>
            </a:r>
            <a:endParaRPr lang="en-US" altLang="en-US" dirty="0"/>
          </a:p>
          <a:p>
            <a:pPr marL="0" indent="0">
              <a:buNone/>
            </a:pPr>
            <a:r>
              <a:rPr lang="en-US" altLang="en-US" dirty="0">
                <a:sym typeface="+mn-ea"/>
              </a:rPr>
              <a:t>Zaid: 6,420 m³</a:t>
            </a:r>
            <a:endParaRPr lang="en-US" altLang="en-US" dirty="0"/>
          </a:p>
          <a:p>
            <a:pPr marL="0" indent="0">
              <a:buNone/>
            </a:pPr>
            <a:endParaRPr lang="en-US" altLang="en-US" dirty="0"/>
          </a:p>
          <a:p>
            <a:pPr marL="0" indent="0">
              <a:buNone/>
            </a:pPr>
            <a:r>
              <a:rPr lang="en-US" altLang="en-US" dirty="0">
                <a:sym typeface="+mn-ea"/>
              </a:rPr>
              <a:t>Key Finding:</a:t>
            </a:r>
            <a:endParaRPr lang="en-US" altLang="en-US" dirty="0"/>
          </a:p>
          <a:p>
            <a:pPr marL="0" indent="0">
              <a:buNone/>
            </a:pPr>
            <a:r>
              <a:rPr lang="en-US" altLang="en-US" dirty="0">
                <a:sym typeface="+mn-ea"/>
              </a:rPr>
              <a:t>Zaid recorded the highest average water usage.</a:t>
            </a:r>
            <a:endParaRPr lang="en-US" dirty="0"/>
          </a:p>
          <a:p>
            <a:pPr marL="0" indent="0">
              <a:buNone/>
            </a:pPr>
            <a:endParaRPr lang="en-IN" dirty="0"/>
          </a:p>
        </p:txBody>
      </p:sp>
      <p:sp>
        <p:nvSpPr>
          <p:cNvPr id="2" name="Text Box 1"/>
          <p:cNvSpPr txBox="1"/>
          <p:nvPr/>
        </p:nvSpPr>
        <p:spPr>
          <a:xfrm>
            <a:off x="343079" y="1768985"/>
            <a:ext cx="3139592" cy="3493639"/>
          </a:xfrm>
          <a:prstGeom prst="rect">
            <a:avLst/>
          </a:prstGeom>
          <a:noFill/>
        </p:spPr>
        <p:txBody>
          <a:bodyPr wrap="square" rtlCol="0" anchor="t">
            <a:noAutofit/>
          </a:bodyPr>
          <a:lstStyle/>
          <a:p>
            <a:endParaRPr lang="en-US"/>
          </a:p>
        </p:txBody>
      </p:sp>
      <p:pic>
        <p:nvPicPr>
          <p:cNvPr id="3" name="Picture 2"/>
          <p:cNvPicPr>
            <a:picLocks noChangeAspect="1"/>
          </p:cNvPicPr>
          <p:nvPr/>
        </p:nvPicPr>
        <p:blipFill>
          <a:blip r:embed="rId3"/>
          <a:stretch>
            <a:fillRect/>
          </a:stretch>
        </p:blipFill>
        <p:spPr>
          <a:xfrm>
            <a:off x="4635222" y="786087"/>
            <a:ext cx="6108065" cy="53225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5" end="5"/>
                                            </p:txEl>
                                          </p:spTgt>
                                        </p:tgtEl>
                                        <p:attrNameLst>
                                          <p:attrName>style.visibility</p:attrName>
                                        </p:attrNameLst>
                                      </p:cBhvr>
                                      <p:to>
                                        <p:strVal val="visible"/>
                                      </p:to>
                                    </p:set>
                                    <p:animEffect transition="in" filter="fade">
                                      <p:cBhvr>
                                        <p:cTn id="56" dur="1000"/>
                                        <p:tgtEl>
                                          <p:spTgt spid="10">
                                            <p:txEl>
                                              <p:pRg st="5" end="5"/>
                                            </p:txEl>
                                          </p:spTgt>
                                        </p:tgtEl>
                                      </p:cBhvr>
                                    </p:animEffect>
                                    <p:anim calcmode="lin" valueType="num">
                                      <p:cBhvr>
                                        <p:cTn id="5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727171" y="1396404"/>
            <a:ext cx="3467735" cy="4140835"/>
          </a:xfrm>
        </p:spPr>
        <p:txBody>
          <a:bodyPr>
            <a:normAutofit/>
          </a:bodyPr>
          <a:lstStyle/>
          <a:p>
            <a:pPr marL="0" indent="0">
              <a:buNone/>
            </a:pPr>
            <a:r>
              <a:rPr lang="en-US" altLang="en-US" dirty="0">
                <a:latin typeface="Times New Roman" panose="02020603050405020304" pitchFamily="18" charset="0"/>
                <a:cs typeface="Times New Roman" panose="02020603050405020304" pitchFamily="18" charset="0"/>
              </a:rPr>
              <a:t>Kharif: ₹1.79 Lakh</a:t>
            </a:r>
          </a:p>
          <a:p>
            <a:pPr marL="0" indent="0">
              <a:buNone/>
            </a:pPr>
            <a:r>
              <a:rPr lang="en-US" altLang="en-US" dirty="0">
                <a:latin typeface="Times New Roman" panose="02020603050405020304" pitchFamily="18" charset="0"/>
                <a:cs typeface="Times New Roman" panose="02020603050405020304" pitchFamily="18" charset="0"/>
              </a:rPr>
              <a:t>Rabi: ₹0.88 Lakh</a:t>
            </a:r>
          </a:p>
          <a:p>
            <a:pPr marL="0" indent="0">
              <a:buNone/>
            </a:pPr>
            <a:r>
              <a:rPr lang="en-US" altLang="en-US" dirty="0">
                <a:latin typeface="Times New Roman" panose="02020603050405020304" pitchFamily="18" charset="0"/>
                <a:cs typeface="Times New Roman" panose="02020603050405020304" pitchFamily="18" charset="0"/>
              </a:rPr>
              <a:t>Zaid: -₹0.25 Lakh</a:t>
            </a:r>
          </a:p>
          <a:p>
            <a:pPr marL="0" indent="0">
              <a:buNone/>
            </a:pPr>
            <a:endParaRPr lang="en-US" altLang="en-US" dirty="0">
              <a:latin typeface="Times New Roman" panose="02020603050405020304" pitchFamily="18" charset="0"/>
              <a:cs typeface="Times New Roman" panose="02020603050405020304" pitchFamily="18" charset="0"/>
            </a:endParaRPr>
          </a:p>
          <a:p>
            <a:pPr marL="0" indent="0">
              <a:buNone/>
            </a:pPr>
            <a:r>
              <a:rPr lang="en-US" altLang="en-US" dirty="0">
                <a:latin typeface="Times New Roman" panose="02020603050405020304" pitchFamily="18" charset="0"/>
                <a:cs typeface="Times New Roman" panose="02020603050405020304" pitchFamily="18" charset="0"/>
              </a:rPr>
              <a:t>Key Finding:</a:t>
            </a:r>
          </a:p>
          <a:p>
            <a:pPr marL="0" indent="0">
              <a:buNone/>
            </a:pPr>
            <a:r>
              <a:rPr lang="en-US" altLang="en-US" dirty="0">
                <a:latin typeface="Times New Roman" panose="02020603050405020304" pitchFamily="18" charset="0"/>
                <a:cs typeface="Times New Roman" panose="02020603050405020304" pitchFamily="18" charset="0"/>
              </a:rPr>
              <a:t>Kharif recorded the highest average profit,</a:t>
            </a:r>
          </a:p>
          <a:p>
            <a:pPr marL="0" indent="0">
              <a:buNone/>
            </a:pPr>
            <a:r>
              <a:rPr lang="en-US" altLang="en-US" dirty="0">
                <a:latin typeface="Times New Roman" panose="02020603050405020304" pitchFamily="18" charset="0"/>
                <a:cs typeface="Times New Roman" panose="02020603050405020304" pitchFamily="18" charset="0"/>
              </a:rPr>
              <a:t>while Zaid recorded negative average profit.</a:t>
            </a:r>
          </a:p>
        </p:txBody>
      </p:sp>
      <p:pic>
        <p:nvPicPr>
          <p:cNvPr id="2" name="Picture 1"/>
          <p:cNvPicPr>
            <a:picLocks noChangeAspect="1"/>
          </p:cNvPicPr>
          <p:nvPr/>
        </p:nvPicPr>
        <p:blipFill>
          <a:blip r:embed="rId3"/>
          <a:stretch>
            <a:fillRect/>
          </a:stretch>
        </p:blipFill>
        <p:spPr>
          <a:xfrm>
            <a:off x="4732213" y="690562"/>
            <a:ext cx="6248538" cy="54768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5" end="5"/>
                                            </p:txEl>
                                          </p:spTgt>
                                        </p:tgtEl>
                                        <p:attrNameLst>
                                          <p:attrName>style.visibility</p:attrName>
                                        </p:attrNameLst>
                                      </p:cBhvr>
                                      <p:to>
                                        <p:strVal val="visible"/>
                                      </p:to>
                                    </p:set>
                                    <p:animEffect transition="in" filter="fade">
                                      <p:cBhvr>
                                        <p:cTn id="56" dur="1000"/>
                                        <p:tgtEl>
                                          <p:spTgt spid="10">
                                            <p:txEl>
                                              <p:pRg st="5" end="5"/>
                                            </p:txEl>
                                          </p:spTgt>
                                        </p:tgtEl>
                                      </p:cBhvr>
                                    </p:animEffect>
                                    <p:anim calcmode="lin" valueType="num">
                                      <p:cBhvr>
                                        <p:cTn id="57"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6" end="6"/>
                                            </p:txEl>
                                          </p:spTgt>
                                        </p:tgtEl>
                                        <p:attrNameLst>
                                          <p:attrName>style.visibility</p:attrName>
                                        </p:attrNameLst>
                                      </p:cBhvr>
                                      <p:to>
                                        <p:strVal val="visible"/>
                                      </p:to>
                                    </p:set>
                                    <p:animEffect transition="in" filter="fade">
                                      <p:cBhvr>
                                        <p:cTn id="63" dur="1000"/>
                                        <p:tgtEl>
                                          <p:spTgt spid="10">
                                            <p:txEl>
                                              <p:pRg st="6" end="6"/>
                                            </p:txEl>
                                          </p:spTgt>
                                        </p:tgtEl>
                                      </p:cBhvr>
                                    </p:animEffect>
                                    <p:anim calcmode="lin" valueType="num">
                                      <p:cBhvr>
                                        <p:cTn id="64"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latin typeface="Times New Roman" panose="02020603050405020304" pitchFamily="18" charset="0"/>
                <a:cs typeface="Times New Roman" panose="02020603050405020304" pitchFamily="18" charset="0"/>
              </a:rPr>
              <a:t>RESULTS</a:t>
            </a:r>
            <a:r>
              <a:rPr lang="en-GB" dirty="0"/>
              <a:t>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320040" y="1431925"/>
            <a:ext cx="4355327" cy="4140835"/>
          </a:xfrm>
        </p:spPr>
        <p:txBody>
          <a:bodyPr>
            <a:normAutofit/>
          </a:bodyPr>
          <a:lstStyle/>
          <a:p>
            <a:pPr marL="0" indent="0">
              <a:buNone/>
            </a:pPr>
            <a:r>
              <a:rPr lang="en-US" altLang="en-US" dirty="0">
                <a:latin typeface="Times New Roman" panose="02020603050405020304" pitchFamily="18" charset="0"/>
                <a:cs typeface="Times New Roman" panose="02020603050405020304" pitchFamily="18" charset="0"/>
              </a:rPr>
              <a:t>Key Finding:</a:t>
            </a:r>
          </a:p>
          <a:p>
            <a:pPr marL="0" indent="0">
              <a:buNone/>
            </a:pPr>
            <a:endParaRPr lang="en-US" altLang="en-US" dirty="0">
              <a:latin typeface="Times New Roman" panose="02020603050405020304" pitchFamily="18" charset="0"/>
              <a:cs typeface="Times New Roman" panose="02020603050405020304" pitchFamily="18" charset="0"/>
            </a:endParaRPr>
          </a:p>
          <a:p>
            <a:pPr marL="0" indent="0">
              <a:buNone/>
            </a:pPr>
            <a:r>
              <a:rPr lang="en-US" altLang="en-US" dirty="0">
                <a:latin typeface="Times New Roman" panose="02020603050405020304" pitchFamily="18" charset="0"/>
                <a:cs typeface="Times New Roman" panose="02020603050405020304" pitchFamily="18" charset="0"/>
              </a:rPr>
              <a:t>Crop performance varies across seasons.</a:t>
            </a:r>
          </a:p>
          <a:p>
            <a:pPr marL="0" indent="0">
              <a:buNone/>
            </a:pPr>
            <a:r>
              <a:rPr lang="en-US" altLang="en-US" dirty="0">
                <a:latin typeface="Times New Roman" panose="02020603050405020304" pitchFamily="18" charset="0"/>
                <a:cs typeface="Times New Roman" panose="02020603050405020304" pitchFamily="18" charset="0"/>
              </a:rPr>
              <a:t>Therefore, crop selection should consider</a:t>
            </a:r>
          </a:p>
          <a:p>
            <a:pPr marL="0" indent="0">
              <a:buNone/>
            </a:pPr>
            <a:r>
              <a:rPr lang="en-US" altLang="en-US" dirty="0">
                <a:latin typeface="Times New Roman" panose="02020603050405020304" pitchFamily="18" charset="0"/>
                <a:cs typeface="Times New Roman" panose="02020603050405020304" pitchFamily="18" charset="0"/>
              </a:rPr>
              <a:t>seasonal conditions.</a:t>
            </a:r>
          </a:p>
        </p:txBody>
      </p:sp>
      <p:pic>
        <p:nvPicPr>
          <p:cNvPr id="3" name="Picture 2"/>
          <p:cNvPicPr>
            <a:picLocks noChangeAspect="1"/>
          </p:cNvPicPr>
          <p:nvPr/>
        </p:nvPicPr>
        <p:blipFill>
          <a:blip r:embed="rId3"/>
          <a:stretch>
            <a:fillRect/>
          </a:stretch>
        </p:blipFill>
        <p:spPr>
          <a:xfrm>
            <a:off x="4817524" y="810880"/>
            <a:ext cx="6034405" cy="53511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512C-1648-B13D-CA25-FAB5FF32BB2B}"/>
              </a:ext>
            </a:extLst>
          </p:cNvPr>
          <p:cNvSpPr>
            <a:spLocks noGrp="1"/>
          </p:cNvSpPr>
          <p:nvPr>
            <p:ph type="title"/>
          </p:nvPr>
        </p:nvSpPr>
        <p:spPr>
          <a:xfrm>
            <a:off x="677334" y="609600"/>
            <a:ext cx="8596668" cy="102836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Types of Distribution</a:t>
            </a:r>
          </a:p>
        </p:txBody>
      </p:sp>
      <p:sp>
        <p:nvSpPr>
          <p:cNvPr id="3" name="Slide Number Placeholder 2">
            <a:extLst>
              <a:ext uri="{FF2B5EF4-FFF2-40B4-BE49-F238E27FC236}">
                <a16:creationId xmlns:a16="http://schemas.microsoft.com/office/drawing/2014/main" id="{FC5B9AC1-93E0-77A0-1BBD-049306961FB2}"/>
              </a:ext>
            </a:extLst>
          </p:cNvPr>
          <p:cNvSpPr>
            <a:spLocks noGrp="1"/>
          </p:cNvSpPr>
          <p:nvPr>
            <p:ph type="sldNum" sz="quarter" idx="12"/>
          </p:nvPr>
        </p:nvSpPr>
        <p:spPr/>
        <p:txBody>
          <a:bodyPr/>
          <a:lstStyle/>
          <a:p>
            <a:fld id="{D57F1E4F-1CFF-5643-939E-217C01CDF565}" type="slidenum">
              <a:rPr lang="en-US" smtClean="0"/>
              <a:t>12</a:t>
            </a:fld>
            <a:endParaRPr lang="en-US" dirty="0"/>
          </a:p>
        </p:txBody>
      </p:sp>
      <p:pic>
        <p:nvPicPr>
          <p:cNvPr id="11" name="Picture 10">
            <a:extLst>
              <a:ext uri="{FF2B5EF4-FFF2-40B4-BE49-F238E27FC236}">
                <a16:creationId xmlns:a16="http://schemas.microsoft.com/office/drawing/2014/main" id="{B2832A8C-0FC9-E0C0-F169-1D39D182E154}"/>
              </a:ext>
            </a:extLst>
          </p:cNvPr>
          <p:cNvPicPr>
            <a:picLocks noChangeAspect="1"/>
          </p:cNvPicPr>
          <p:nvPr/>
        </p:nvPicPr>
        <p:blipFill>
          <a:blip r:embed="rId2"/>
          <a:stretch>
            <a:fillRect/>
          </a:stretch>
        </p:blipFill>
        <p:spPr>
          <a:xfrm>
            <a:off x="7332277" y="1385168"/>
            <a:ext cx="4483946" cy="2768150"/>
          </a:xfrm>
          <a:prstGeom prst="rect">
            <a:avLst/>
          </a:prstGeom>
        </p:spPr>
      </p:pic>
      <p:pic>
        <p:nvPicPr>
          <p:cNvPr id="13" name="Picture 12">
            <a:extLst>
              <a:ext uri="{FF2B5EF4-FFF2-40B4-BE49-F238E27FC236}">
                <a16:creationId xmlns:a16="http://schemas.microsoft.com/office/drawing/2014/main" id="{AFDF773A-C43F-F5AC-48B0-DEB6FBE5B2E4}"/>
              </a:ext>
            </a:extLst>
          </p:cNvPr>
          <p:cNvPicPr>
            <a:picLocks noChangeAspect="1"/>
          </p:cNvPicPr>
          <p:nvPr/>
        </p:nvPicPr>
        <p:blipFill>
          <a:blip r:embed="rId3"/>
          <a:stretch>
            <a:fillRect/>
          </a:stretch>
        </p:blipFill>
        <p:spPr>
          <a:xfrm>
            <a:off x="375777" y="1777300"/>
            <a:ext cx="4599891" cy="2262548"/>
          </a:xfrm>
          <a:prstGeom prst="rect">
            <a:avLst/>
          </a:prstGeom>
        </p:spPr>
      </p:pic>
      <p:pic>
        <p:nvPicPr>
          <p:cNvPr id="15" name="Picture 14">
            <a:extLst>
              <a:ext uri="{FF2B5EF4-FFF2-40B4-BE49-F238E27FC236}">
                <a16:creationId xmlns:a16="http://schemas.microsoft.com/office/drawing/2014/main" id="{4585E324-0EAB-ACA0-6D2A-383F1579928A}"/>
              </a:ext>
            </a:extLst>
          </p:cNvPr>
          <p:cNvPicPr>
            <a:picLocks noChangeAspect="1"/>
          </p:cNvPicPr>
          <p:nvPr/>
        </p:nvPicPr>
        <p:blipFill>
          <a:blip r:embed="rId4"/>
          <a:stretch>
            <a:fillRect/>
          </a:stretch>
        </p:blipFill>
        <p:spPr>
          <a:xfrm>
            <a:off x="3523017" y="4292649"/>
            <a:ext cx="4483945" cy="2104366"/>
          </a:xfrm>
          <a:prstGeom prst="rect">
            <a:avLst/>
          </a:prstGeom>
        </p:spPr>
      </p:pic>
    </p:spTree>
    <p:extLst>
      <p:ext uri="{BB962C8B-B14F-4D97-AF65-F5344CB8AC3E}">
        <p14:creationId xmlns:p14="http://schemas.microsoft.com/office/powerpoint/2010/main" val="3711325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0A99E-7226-191A-DDA8-8480FD46192F}"/>
              </a:ext>
            </a:extLst>
          </p:cNvPr>
          <p:cNvSpPr>
            <a:spLocks noGrp="1"/>
          </p:cNvSpPr>
          <p:nvPr>
            <p:ph type="title"/>
          </p:nvPr>
        </p:nvSpPr>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Pie – Chart on Yield</a:t>
            </a:r>
          </a:p>
        </p:txBody>
      </p:sp>
      <p:sp>
        <p:nvSpPr>
          <p:cNvPr id="3" name="Slide Number Placeholder 2">
            <a:extLst>
              <a:ext uri="{FF2B5EF4-FFF2-40B4-BE49-F238E27FC236}">
                <a16:creationId xmlns:a16="http://schemas.microsoft.com/office/drawing/2014/main" id="{C60161F3-8CB6-84D7-B289-5898D289C92D}"/>
              </a:ext>
            </a:extLst>
          </p:cNvPr>
          <p:cNvSpPr>
            <a:spLocks noGrp="1"/>
          </p:cNvSpPr>
          <p:nvPr>
            <p:ph type="sldNum" sz="quarter" idx="12"/>
          </p:nvPr>
        </p:nvSpPr>
        <p:spPr/>
        <p:txBody>
          <a:bodyPr/>
          <a:lstStyle/>
          <a:p>
            <a:fld id="{D57F1E4F-1CFF-5643-939E-217C01CDF565}" type="slidenum">
              <a:rPr lang="en-US" smtClean="0"/>
              <a:t>13</a:t>
            </a:fld>
            <a:endParaRPr lang="en-US" dirty="0"/>
          </a:p>
        </p:txBody>
      </p:sp>
      <p:pic>
        <p:nvPicPr>
          <p:cNvPr id="5" name="Picture 4">
            <a:extLst>
              <a:ext uri="{FF2B5EF4-FFF2-40B4-BE49-F238E27FC236}">
                <a16:creationId xmlns:a16="http://schemas.microsoft.com/office/drawing/2014/main" id="{4F8D17F3-8A09-7F0B-FBAF-5714B9D7D436}"/>
              </a:ext>
            </a:extLst>
          </p:cNvPr>
          <p:cNvPicPr>
            <a:picLocks noChangeAspect="1"/>
          </p:cNvPicPr>
          <p:nvPr/>
        </p:nvPicPr>
        <p:blipFill>
          <a:blip r:embed="rId2"/>
          <a:stretch>
            <a:fillRect/>
          </a:stretch>
        </p:blipFill>
        <p:spPr>
          <a:xfrm>
            <a:off x="677334" y="1514278"/>
            <a:ext cx="7168910" cy="4425705"/>
          </a:xfrm>
          <a:prstGeom prst="rect">
            <a:avLst/>
          </a:prstGeom>
        </p:spPr>
      </p:pic>
      <p:sp>
        <p:nvSpPr>
          <p:cNvPr id="6" name="TextBox 5">
            <a:extLst>
              <a:ext uri="{FF2B5EF4-FFF2-40B4-BE49-F238E27FC236}">
                <a16:creationId xmlns:a16="http://schemas.microsoft.com/office/drawing/2014/main" id="{F86345FA-CDD7-55F5-BC2F-60B264DACFED}"/>
              </a:ext>
            </a:extLst>
          </p:cNvPr>
          <p:cNvSpPr txBox="1"/>
          <p:nvPr/>
        </p:nvSpPr>
        <p:spPr>
          <a:xfrm>
            <a:off x="8054671" y="1930400"/>
            <a:ext cx="3824578" cy="3754874"/>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Rainfall vs Agricultural Yield:</a:t>
            </a:r>
          </a:p>
          <a:p>
            <a:r>
              <a:rPr lang="en-US" sz="2000" dirty="0">
                <a:latin typeface="Times New Roman" panose="02020603050405020304" pitchFamily="18" charset="0"/>
                <a:cs typeface="Times New Roman" panose="02020603050405020304" pitchFamily="18" charset="0"/>
              </a:rPr>
              <a:t>This scatter plot shows the relationship between rainfall and agricultural yield. There is a positive relationship to some extent, as yield generally increases with rainfall, but the points are widely scattered. This indicates that rainfall affects yield, but other factors also play an important role.</a:t>
            </a:r>
          </a:p>
          <a:p>
            <a:pPr algn="just"/>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63422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BA64-BC95-8DFC-7573-F114134C8669}"/>
              </a:ext>
            </a:extLst>
          </p:cNvPr>
          <p:cNvSpPr>
            <a:spLocks noGrp="1"/>
          </p:cNvSpPr>
          <p:nvPr>
            <p:ph type="title"/>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Yield by Crop and Season Graph</a:t>
            </a:r>
          </a:p>
        </p:txBody>
      </p:sp>
      <p:sp>
        <p:nvSpPr>
          <p:cNvPr id="3" name="Slide Number Placeholder 2">
            <a:extLst>
              <a:ext uri="{FF2B5EF4-FFF2-40B4-BE49-F238E27FC236}">
                <a16:creationId xmlns:a16="http://schemas.microsoft.com/office/drawing/2014/main" id="{A3204084-F7B3-83B1-389C-8278E1F67BF6}"/>
              </a:ext>
            </a:extLst>
          </p:cNvPr>
          <p:cNvSpPr>
            <a:spLocks noGrp="1"/>
          </p:cNvSpPr>
          <p:nvPr>
            <p:ph type="sldNum" sz="quarter" idx="12"/>
          </p:nvPr>
        </p:nvSpPr>
        <p:spPr/>
        <p:txBody>
          <a:bodyPr/>
          <a:lstStyle/>
          <a:p>
            <a:fld id="{D57F1E4F-1CFF-5643-939E-217C01CDF565}" type="slidenum">
              <a:rPr lang="en-US" smtClean="0"/>
              <a:t>14</a:t>
            </a:fld>
            <a:endParaRPr lang="en-US" dirty="0"/>
          </a:p>
        </p:txBody>
      </p:sp>
      <p:pic>
        <p:nvPicPr>
          <p:cNvPr id="5" name="Picture 4">
            <a:extLst>
              <a:ext uri="{FF2B5EF4-FFF2-40B4-BE49-F238E27FC236}">
                <a16:creationId xmlns:a16="http://schemas.microsoft.com/office/drawing/2014/main" id="{A86D685A-4405-0BE8-6140-EE6559856DAE}"/>
              </a:ext>
            </a:extLst>
          </p:cNvPr>
          <p:cNvPicPr>
            <a:picLocks noChangeAspect="1"/>
          </p:cNvPicPr>
          <p:nvPr/>
        </p:nvPicPr>
        <p:blipFill>
          <a:blip r:embed="rId2"/>
          <a:stretch>
            <a:fillRect/>
          </a:stretch>
        </p:blipFill>
        <p:spPr>
          <a:xfrm>
            <a:off x="677335" y="1521466"/>
            <a:ext cx="7846464" cy="4519896"/>
          </a:xfrm>
          <a:prstGeom prst="rect">
            <a:avLst/>
          </a:prstGeom>
        </p:spPr>
      </p:pic>
      <p:sp>
        <p:nvSpPr>
          <p:cNvPr id="6" name="TextBox 5">
            <a:extLst>
              <a:ext uri="{FF2B5EF4-FFF2-40B4-BE49-F238E27FC236}">
                <a16:creationId xmlns:a16="http://schemas.microsoft.com/office/drawing/2014/main" id="{C2434A90-8BA2-DFDB-3C28-28CA01DE9F9D}"/>
              </a:ext>
            </a:extLst>
          </p:cNvPr>
          <p:cNvSpPr txBox="1"/>
          <p:nvPr/>
        </p:nvSpPr>
        <p:spPr>
          <a:xfrm>
            <a:off x="8674873" y="1765190"/>
            <a:ext cx="3204376" cy="286232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Yield by Crop and Season:</a:t>
            </a:r>
          </a:p>
          <a:p>
            <a:r>
              <a:rPr lang="en-US" dirty="0">
                <a:latin typeface="Times New Roman" panose="02020603050405020304" pitchFamily="18" charset="0"/>
                <a:cs typeface="Times New Roman" panose="02020603050405020304" pitchFamily="18" charset="0"/>
              </a:rPr>
              <a:t>This box plot compares crop yield across different seasons. Sugarcane has the highest yield overall, while pulses and cotton have much lower yields. For most crops, Kharif generally shows higher yields than Rabi and Zaid, with some variation and outliers.</a:t>
            </a:r>
            <a:endParaRPr lang="en-IN" dirty="0"/>
          </a:p>
        </p:txBody>
      </p:sp>
    </p:spTree>
    <p:extLst>
      <p:ext uri="{BB962C8B-B14F-4D97-AF65-F5344CB8AC3E}">
        <p14:creationId xmlns:p14="http://schemas.microsoft.com/office/powerpoint/2010/main" val="3081645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1017863" y="305454"/>
            <a:ext cx="4735798" cy="830997"/>
          </a:xfrm>
        </p:spPr>
        <p:txBody>
          <a:bodyPr>
            <a:normAutofit/>
          </a:bodyPr>
          <a:lstStyle/>
          <a:p>
            <a:r>
              <a:rPr lang="en-IN" sz="4000" dirty="0">
                <a:latin typeface="Times New Roman" panose="02020603050405020304" pitchFamily="18" charset="0"/>
                <a:cs typeface="Times New Roman" panose="02020603050405020304" pitchFamily="18" charset="0"/>
              </a:rPr>
              <a:t>Future scope</a:t>
            </a:r>
          </a:p>
        </p:txBody>
      </p:sp>
      <p:sp>
        <p:nvSpPr>
          <p:cNvPr id="7" name="Text Placeholder 30"/>
          <p:cNvSpPr txBox="1"/>
          <p:nvPr/>
        </p:nvSpPr>
        <p:spPr>
          <a:xfrm>
            <a:off x="876935" y="1553210"/>
            <a:ext cx="10326453" cy="447611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algn="just"/>
            <a:r>
              <a:rPr lang="en-US" altLang="en-US" sz="20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Develop Machine Learning models for agricultural yield prediction.</a:t>
            </a:r>
          </a:p>
          <a:p>
            <a:pPr algn="just"/>
            <a:r>
              <a:rPr lang="en-US" altLang="en-US" sz="2400" dirty="0">
                <a:latin typeface="Times New Roman" panose="02020603050405020304" pitchFamily="18" charset="0"/>
                <a:cs typeface="Times New Roman" panose="02020603050405020304" pitchFamily="18" charset="0"/>
              </a:rPr>
              <a:t>• Build crop recommendation systems based on season,</a:t>
            </a:r>
          </a:p>
          <a:p>
            <a:pPr algn="just"/>
            <a:r>
              <a:rPr lang="en-US" altLang="en-US" sz="2400" dirty="0">
                <a:latin typeface="Times New Roman" panose="02020603050405020304" pitchFamily="18" charset="0"/>
                <a:cs typeface="Times New Roman" panose="02020603050405020304" pitchFamily="18" charset="0"/>
              </a:rPr>
              <a:t>  environmental conditions and farming inputs.</a:t>
            </a:r>
          </a:p>
          <a:p>
            <a:pPr algn="just"/>
            <a:r>
              <a:rPr lang="en-US" altLang="en-US" sz="2400" dirty="0">
                <a:latin typeface="Times New Roman" panose="02020603050405020304" pitchFamily="18" charset="0"/>
                <a:cs typeface="Times New Roman" panose="02020603050405020304" pitchFamily="18" charset="0"/>
              </a:rPr>
              <a:t>• Develop an interactive dashboard using Power BI or Tableau.</a:t>
            </a:r>
          </a:p>
          <a:p>
            <a:pPr algn="just"/>
            <a:r>
              <a:rPr lang="en-US" altLang="en-US" sz="2400" dirty="0">
                <a:latin typeface="Times New Roman" panose="02020603050405020304" pitchFamily="18" charset="0"/>
                <a:cs typeface="Times New Roman" panose="02020603050405020304" pitchFamily="18" charset="0"/>
              </a:rPr>
              <a:t>• Integrate real-time weather and market price data.</a:t>
            </a:r>
          </a:p>
          <a:p>
            <a:pPr algn="just"/>
            <a:r>
              <a:rPr lang="en-US" altLang="en-US" sz="2400" dirty="0">
                <a:latin typeface="Times New Roman" panose="02020603050405020304" pitchFamily="18" charset="0"/>
                <a:cs typeface="Times New Roman" panose="02020603050405020304" pitchFamily="18" charset="0"/>
              </a:rPr>
              <a:t>• Improve water-use optimization using predictive analytics.</a:t>
            </a:r>
          </a:p>
          <a:p>
            <a:pPr algn="just"/>
            <a:r>
              <a:rPr lang="en-US" altLang="en-US" sz="2400" dirty="0">
                <a:latin typeface="Times New Roman" panose="02020603050405020304" pitchFamily="18" charset="0"/>
                <a:cs typeface="Times New Roman" panose="02020603050405020304" pitchFamily="18" charset="0"/>
              </a:rPr>
              <a:t>• Extend the analysis to more regions and historical data.</a:t>
            </a:r>
            <a:endParaRPr lang="en-GB" sz="2400" dirty="0">
              <a:latin typeface="Times New Roman" panose="02020603050405020304" pitchFamily="18" charset="0"/>
              <a:cs typeface="Times New Roman" panose="02020603050405020304" pitchFamily="18" charset="0"/>
            </a:endParaRPr>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Graphic 7" descr="Stack of books with pear">
            <a:extLst>
              <a:ext uri="{FF2B5EF4-FFF2-40B4-BE49-F238E27FC236}">
                <a16:creationId xmlns:a16="http://schemas.microsoft.com/office/drawing/2014/main" id="{23EDE6E8-6A5E-4C7A-7501-8E881E8C8A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0591232" y="0"/>
            <a:ext cx="1699613" cy="16062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63FD-1C15-2900-5727-60022CCFB16D}"/>
              </a:ext>
            </a:extLst>
          </p:cNvPr>
          <p:cNvSpPr>
            <a:spLocks noGrp="1"/>
          </p:cNvSpPr>
          <p:nvPr>
            <p:ph type="title"/>
          </p:nvPr>
        </p:nvSpPr>
        <p:spPr/>
        <p:txBody>
          <a:bodyPr>
            <a:normAutofit/>
          </a:bodyPr>
          <a:lstStyle/>
          <a:p>
            <a:r>
              <a:rPr lang="en-IN" sz="4400" b="1" dirty="0">
                <a:solidFill>
                  <a:schemeClr val="tx1"/>
                </a:solidFill>
                <a:latin typeface="Times New Roman" panose="02020603050405020304" pitchFamily="18" charset="0"/>
                <a:cs typeface="Times New Roman" panose="02020603050405020304" pitchFamily="18" charset="0"/>
              </a:rPr>
              <a:t>Conclusion</a:t>
            </a:r>
          </a:p>
        </p:txBody>
      </p:sp>
      <p:sp>
        <p:nvSpPr>
          <p:cNvPr id="3" name="Slide Number Placeholder 2">
            <a:extLst>
              <a:ext uri="{FF2B5EF4-FFF2-40B4-BE49-F238E27FC236}">
                <a16:creationId xmlns:a16="http://schemas.microsoft.com/office/drawing/2014/main" id="{176B8273-0D61-4079-881B-94626CD020E9}"/>
              </a:ext>
            </a:extLst>
          </p:cNvPr>
          <p:cNvSpPr>
            <a:spLocks noGrp="1"/>
          </p:cNvSpPr>
          <p:nvPr>
            <p:ph type="sldNum" sz="quarter" idx="12"/>
          </p:nvPr>
        </p:nvSpPr>
        <p:spPr/>
        <p:txBody>
          <a:bodyPr/>
          <a:lstStyle/>
          <a:p>
            <a:fld id="{D57F1E4F-1CFF-5643-939E-217C01CDF565}" type="slidenum">
              <a:rPr lang="en-US" smtClean="0"/>
              <a:t>16</a:t>
            </a:fld>
            <a:endParaRPr lang="en-US" dirty="0"/>
          </a:p>
        </p:txBody>
      </p:sp>
      <p:sp>
        <p:nvSpPr>
          <p:cNvPr id="5" name="TextBox 4">
            <a:extLst>
              <a:ext uri="{FF2B5EF4-FFF2-40B4-BE49-F238E27FC236}">
                <a16:creationId xmlns:a16="http://schemas.microsoft.com/office/drawing/2014/main" id="{7EBDA769-72BF-CD97-5DA1-B0635EFAED26}"/>
              </a:ext>
            </a:extLst>
          </p:cNvPr>
          <p:cNvSpPr txBox="1"/>
          <p:nvPr/>
        </p:nvSpPr>
        <p:spPr>
          <a:xfrm>
            <a:off x="677334" y="1812896"/>
            <a:ext cx="7983110" cy="360098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The conclusion should summarize:</a:t>
            </a:r>
          </a:p>
          <a:p>
            <a:pPr algn="just"/>
            <a:r>
              <a:rPr lang="en-US" sz="2600" dirty="0">
                <a:latin typeface="Times New Roman" panose="02020603050405020304" pitchFamily="18" charset="0"/>
                <a:cs typeface="Times New Roman" panose="02020603050405020304" pitchFamily="18" charset="0"/>
              </a:rPr>
              <a:t>What the dataset revealed about seasonal agricultural performance. </a:t>
            </a:r>
          </a:p>
          <a:p>
            <a:pPr algn="just"/>
            <a:r>
              <a:rPr lang="en-US" sz="2600" dirty="0">
                <a:latin typeface="Times New Roman" panose="02020603050405020304" pitchFamily="18" charset="0"/>
                <a:cs typeface="Times New Roman" panose="02020603050405020304" pitchFamily="18" charset="0"/>
              </a:rPr>
              <a:t>The most important patterns discovered. </a:t>
            </a:r>
          </a:p>
          <a:p>
            <a:pPr algn="just"/>
            <a:r>
              <a:rPr lang="en-US" sz="2600" dirty="0">
                <a:latin typeface="Times New Roman" panose="02020603050405020304" pitchFamily="18" charset="0"/>
                <a:cs typeface="Times New Roman" panose="02020603050405020304" pitchFamily="18" charset="0"/>
              </a:rPr>
              <a:t>The most useful analytical findings. </a:t>
            </a:r>
          </a:p>
          <a:p>
            <a:pPr algn="just"/>
            <a:r>
              <a:rPr lang="en-US" sz="2600" dirty="0">
                <a:latin typeface="Times New Roman" panose="02020603050405020304" pitchFamily="18" charset="0"/>
                <a:cs typeface="Times New Roman" panose="02020603050405020304" pitchFamily="18" charset="0"/>
              </a:rPr>
              <a:t>Important limitations of the analysis. </a:t>
            </a:r>
          </a:p>
          <a:p>
            <a:pPr algn="just"/>
            <a:r>
              <a:rPr lang="en-US" sz="2600" dirty="0">
                <a:latin typeface="Times New Roman" panose="02020603050405020304" pitchFamily="18" charset="0"/>
                <a:cs typeface="Times New Roman" panose="02020603050405020304" pitchFamily="18" charset="0"/>
              </a:rPr>
              <a:t>How the analysis could support future investigation or decision-making</a:t>
            </a:r>
            <a:r>
              <a:rPr lang="en-US" sz="2600" dirty="0"/>
              <a:t>.</a:t>
            </a:r>
          </a:p>
          <a:p>
            <a:endParaRPr lang="en-IN" dirty="0"/>
          </a:p>
        </p:txBody>
      </p:sp>
      <p:pic>
        <p:nvPicPr>
          <p:cNvPr id="6" name="Graphic 7" descr="Stack of books with pear">
            <a:extLst>
              <a:ext uri="{FF2B5EF4-FFF2-40B4-BE49-F238E27FC236}">
                <a16:creationId xmlns:a16="http://schemas.microsoft.com/office/drawing/2014/main" id="{0C8E2C11-BE7A-B2BA-4484-8CFFC9CAD4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0320888" y="4953662"/>
            <a:ext cx="1699613" cy="1606242"/>
          </a:xfrm>
          <a:prstGeom prst="rect">
            <a:avLst/>
          </a:prstGeom>
        </p:spPr>
      </p:pic>
    </p:spTree>
    <p:extLst>
      <p:ext uri="{BB962C8B-B14F-4D97-AF65-F5344CB8AC3E}">
        <p14:creationId xmlns:p14="http://schemas.microsoft.com/office/powerpoint/2010/main" val="3724628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6" y="370589"/>
            <a:ext cx="10026499" cy="884658"/>
          </a:xfrm>
        </p:spPr>
        <p:txBody>
          <a:bodyPr>
            <a:normAutofit fontScale="90000"/>
          </a:bodyPr>
          <a:lstStyle/>
          <a:p>
            <a:pPr algn="ctr"/>
            <a:r>
              <a:rPr lang="en-IN" sz="3200" dirty="0">
                <a:latin typeface="Times New Roman" panose="02020603050405020304" pitchFamily="18" charset="0"/>
                <a:cs typeface="Times New Roman" panose="02020603050405020304" pitchFamily="18" charset="0"/>
              </a:rPr>
              <a:t>VOIS Course completion certificate -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Course name- Data Visualization </a:t>
            </a:r>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3A53781-F4BA-170E-EE08-07DB82DBDEC2}"/>
              </a:ext>
            </a:extLst>
          </p:cNvPr>
          <p:cNvPicPr>
            <a:picLocks noChangeAspect="1"/>
          </p:cNvPicPr>
          <p:nvPr/>
        </p:nvPicPr>
        <p:blipFill>
          <a:blip r:embed="rId3"/>
          <a:stretch>
            <a:fillRect/>
          </a:stretch>
        </p:blipFill>
        <p:spPr>
          <a:xfrm>
            <a:off x="1566407" y="1525257"/>
            <a:ext cx="8841849" cy="513970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31800" y="647700"/>
            <a:ext cx="11339830" cy="5824220"/>
          </a:xfrm>
          <a:prstGeom prst="rect">
            <a:avLst/>
          </a:prstGeom>
        </p:spPr>
        <p:txBody>
          <a:bodyPr anchor="ctr">
            <a:normAutofit/>
          </a:bodyPr>
          <a:lstStyle/>
          <a:p>
            <a:pPr algn="ctr"/>
            <a:r>
              <a:rPr lang="en-US" sz="100" b="1" dirty="0">
                <a:solidFill>
                  <a:schemeClr val="tx1"/>
                </a:solidFill>
              </a:rPr>
              <a:t>.</a:t>
            </a: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12" name="Text Placeholder 11"/>
          <p:cNvSpPr>
            <a:spLocks noGrp="1"/>
          </p:cNvSpPr>
          <p:nvPr>
            <p:ph type="body" sz="quarter" idx="12"/>
          </p:nvPr>
        </p:nvSpPr>
        <p:spPr>
          <a:xfrm>
            <a:off x="2974975" y="2774950"/>
            <a:ext cx="4974590" cy="1866900"/>
          </a:xfrm>
        </p:spPr>
        <p:txBody>
          <a:bodyPr>
            <a:noAutofit/>
          </a:bodyPr>
          <a:lstStyle/>
          <a:p>
            <a:endParaRPr altLang="en-IN" sz="6600" dirty="0"/>
          </a:p>
        </p:txBody>
      </p:sp>
      <p:pic>
        <p:nvPicPr>
          <p:cNvPr id="5" name="Picture 4">
            <a:extLst>
              <a:ext uri="{FF2B5EF4-FFF2-40B4-BE49-F238E27FC236}">
                <a16:creationId xmlns:a16="http://schemas.microsoft.com/office/drawing/2014/main" id="{6B024A75-5ED2-1760-3B5C-C327BF9C722C}"/>
              </a:ext>
            </a:extLst>
          </p:cNvPr>
          <p:cNvPicPr>
            <a:picLocks noChangeAspect="1"/>
          </p:cNvPicPr>
          <p:nvPr/>
        </p:nvPicPr>
        <p:blipFill>
          <a:blip r:embed="rId3"/>
          <a:stretch>
            <a:fillRect/>
          </a:stretch>
        </p:blipFill>
        <p:spPr>
          <a:xfrm>
            <a:off x="1918519" y="1283463"/>
            <a:ext cx="8000286" cy="4093386"/>
          </a:xfrm>
          <a:prstGeom prst="rect">
            <a:avLst/>
          </a:prstGeom>
        </p:spPr>
      </p:pic>
      <p:pic>
        <p:nvPicPr>
          <p:cNvPr id="6" name="Graphic 7" descr="Stack of books with pear">
            <a:extLst>
              <a:ext uri="{FF2B5EF4-FFF2-40B4-BE49-F238E27FC236}">
                <a16:creationId xmlns:a16="http://schemas.microsoft.com/office/drawing/2014/main" id="{46FFEE48-B675-655D-4638-593B36E3A68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0320888" y="4953662"/>
            <a:ext cx="1699613" cy="1606242"/>
          </a:xfrm>
          <a:prstGeom prst="rect">
            <a:avLst/>
          </a:prstGeom>
        </p:spPr>
      </p:pic>
      <p:pic>
        <p:nvPicPr>
          <p:cNvPr id="7" name="Graphic 6" descr="An open book">
            <a:extLst>
              <a:ext uri="{FF2B5EF4-FFF2-40B4-BE49-F238E27FC236}">
                <a16:creationId xmlns:a16="http://schemas.microsoft.com/office/drawing/2014/main" id="{04B9D364-2A56-CAC3-2475-9E72E6BFA1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2399" y="3253104"/>
            <a:ext cx="1266671" cy="1108635"/>
          </a:xfrm>
          <a:prstGeom prst="rect">
            <a:avLst/>
          </a:prstGeom>
        </p:spPr>
      </p:pic>
      <p:pic>
        <p:nvPicPr>
          <p:cNvPr id="8" name="Picture 7">
            <a:extLst>
              <a:ext uri="{FF2B5EF4-FFF2-40B4-BE49-F238E27FC236}">
                <a16:creationId xmlns:a16="http://schemas.microsoft.com/office/drawing/2014/main" id="{C910C3B1-0BF2-56CD-EBBC-A705BC122F5C}"/>
              </a:ext>
            </a:extLst>
          </p:cNvPr>
          <p:cNvPicPr>
            <a:picLocks noChangeAspect="1"/>
          </p:cNvPicPr>
          <p:nvPr/>
        </p:nvPicPr>
        <p:blipFill>
          <a:blip r:embed="rId8"/>
          <a:stretch>
            <a:fillRect/>
          </a:stretch>
        </p:blipFill>
        <p:spPr>
          <a:xfrm>
            <a:off x="10336886" y="-16596"/>
            <a:ext cx="1888202" cy="22326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datastoreItem>
</file>

<file path=customXml/itemProps2.xml><?xml version="1.0" encoding="utf-8"?>
<ds:datastoreItem xmlns:ds="http://schemas.openxmlformats.org/officeDocument/2006/customXml" ds:itemID="{05D99ABA-76CE-4A8E-B5F0-C051B96628DE}">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emplate>Facet</Template>
  <TotalTime>50</TotalTime>
  <Words>747</Words>
  <Application>Microsoft Office PowerPoint</Application>
  <PresentationFormat>Widescreen</PresentationFormat>
  <Paragraphs>119</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Bahnschrift</vt:lpstr>
      <vt:lpstr>Calibri</vt:lpstr>
      <vt:lpstr>Times New Roman</vt:lpstr>
      <vt:lpstr>Trebuchet MS</vt:lpstr>
      <vt:lpstr>Wingdings</vt:lpstr>
      <vt:lpstr>Wingdings 3</vt:lpstr>
      <vt:lpstr>Facet</vt:lpstr>
      <vt:lpstr>Project Title -Seasonal Agriculture Performance Analysis</vt:lpstr>
      <vt:lpstr>PROBLEM  STATEMENT</vt:lpstr>
      <vt:lpstr>Project Description  Seasonal Agriculture Performance Analysis is a data analytics project that analyzes agricultural data across Kharif, Rabi and Zaid seasons. The project examines agricultural yield, production, environmental conditions, farming inputs, water usage, irrigation methods and economic performance. Data cleaning, exploratory data analysis, statistical analysis and visualization techniques are used to identify meaningful seasonal, crop and regional patterns. The findings are used to provide data-driven recommendations for better agricultural planning and resource management. </vt:lpstr>
      <vt:lpstr>WHO ARE THE END USERS?</vt:lpstr>
      <vt:lpstr>Technology Used</vt:lpstr>
      <vt:lpstr>RESULTS </vt:lpstr>
      <vt:lpstr>RESULTS </vt:lpstr>
      <vt:lpstr>RESULTS </vt:lpstr>
      <vt:lpstr>RESULTS </vt:lpstr>
      <vt:lpstr>RESULTS </vt:lpstr>
      <vt:lpstr>RESULTS </vt:lpstr>
      <vt:lpstr>Types of Distribution</vt:lpstr>
      <vt:lpstr>Pie – Chart on Yield</vt:lpstr>
      <vt:lpstr>Yield by Crop and Season Graph</vt:lpstr>
      <vt:lpstr>Future scope</vt:lpstr>
      <vt:lpstr>Conclusion</vt:lpstr>
      <vt:lpstr>VOIS Course completion certificate -  Course name- Data Visualization </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BRIJITHA GAYAL KADIYAM</cp:lastModifiedBy>
  <cp:revision>103</cp:revision>
  <dcterms:created xsi:type="dcterms:W3CDTF">2021-07-11T13:13:00Z</dcterms:created>
  <dcterms:modified xsi:type="dcterms:W3CDTF">2026-09-09T19:40:58Z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648A251D719D41B78E5A6A0F7249BA64_13</vt:lpwstr>
  </property>
  <property fmtid="{D5CDD505-2E9C-101B-9397-08002B2CF9AE}" pid="4" name="KSOProductBuildVer">
    <vt:lpwstr>1033-12.1.0.28485</vt:lpwstr>
  </property>
</Properties>
</file>